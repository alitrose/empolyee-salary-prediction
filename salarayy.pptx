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rial Bold" charset="1" panose="020B0802020202020204"/>
      <p:regular r:id="rId24"/>
    </p:embeddedFont>
    <p:embeddedFont>
      <p:font typeface="Arial" charset="1" panose="020B0502020202020204"/>
      <p:regular r:id="rId25"/>
    </p:embeddedFont>
    <p:embeddedFont>
      <p:font typeface="ITC Franklin Gothic LT Semi-Bold" charset="1" panose="020B0704030502020204"/>
      <p:regular r:id="rId26"/>
    </p:embeddedFont>
    <p:embeddedFont>
      <p:font typeface="ITC Franklin Gothic LT" charset="1" panose="020B0504030503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669801" y="4628646"/>
            <a:ext cx="16948398" cy="5007224"/>
            <a:chOff x="0" y="0"/>
            <a:chExt cx="22597864" cy="6676298"/>
          </a:xfrm>
        </p:grpSpPr>
        <p:sp>
          <p:nvSpPr>
            <p:cNvPr name="Freeform 11" id="11"/>
            <p:cNvSpPr/>
            <p:nvPr/>
          </p:nvSpPr>
          <p:spPr>
            <a:xfrm flipH="false" flipV="false" rot="0">
              <a:off x="0" y="0"/>
              <a:ext cx="22597872" cy="6676263"/>
            </a:xfrm>
            <a:custGeom>
              <a:avLst/>
              <a:gdLst/>
              <a:ahLst/>
              <a:cxnLst/>
              <a:rect r="r" b="b" t="t" l="l"/>
              <a:pathLst>
                <a:path h="6676263" w="22597872">
                  <a:moveTo>
                    <a:pt x="0" y="0"/>
                  </a:moveTo>
                  <a:lnTo>
                    <a:pt x="22597872" y="0"/>
                  </a:lnTo>
                  <a:lnTo>
                    <a:pt x="22597872" y="6676263"/>
                  </a:lnTo>
                  <a:lnTo>
                    <a:pt x="0" y="6676263"/>
                  </a:lnTo>
                  <a:close/>
                </a:path>
              </a:pathLst>
            </a:custGeom>
            <a:solidFill>
              <a:srgbClr val="465359"/>
            </a:solidFill>
          </p:spPr>
        </p:sp>
      </p:grpSp>
      <p:grpSp>
        <p:nvGrpSpPr>
          <p:cNvPr name="Group 12" id="12"/>
          <p:cNvGrpSpPr/>
          <p:nvPr/>
        </p:nvGrpSpPr>
        <p:grpSpPr>
          <a:xfrm rot="0">
            <a:off x="2038662" y="2732452"/>
            <a:ext cx="13716000" cy="1466667"/>
            <a:chOff x="0" y="0"/>
            <a:chExt cx="18288000" cy="1955556"/>
          </a:xfrm>
        </p:grpSpPr>
        <p:sp>
          <p:nvSpPr>
            <p:cNvPr name="Freeform 13" id="13"/>
            <p:cNvSpPr/>
            <p:nvPr/>
          </p:nvSpPr>
          <p:spPr>
            <a:xfrm flipH="false" flipV="false" rot="0">
              <a:off x="0" y="0"/>
              <a:ext cx="18288000" cy="1955556"/>
            </a:xfrm>
            <a:custGeom>
              <a:avLst/>
              <a:gdLst/>
              <a:ahLst/>
              <a:cxnLst/>
              <a:rect r="r" b="b" t="t" l="l"/>
              <a:pathLst>
                <a:path h="1955556" w="18288000">
                  <a:moveTo>
                    <a:pt x="0" y="0"/>
                  </a:moveTo>
                  <a:lnTo>
                    <a:pt x="18288000" y="0"/>
                  </a:lnTo>
                  <a:lnTo>
                    <a:pt x="18288000" y="1955556"/>
                  </a:lnTo>
                  <a:lnTo>
                    <a:pt x="0" y="1955556"/>
                  </a:lnTo>
                  <a:close/>
                </a:path>
              </a:pathLst>
            </a:custGeom>
            <a:solidFill>
              <a:srgbClr val="000000">
                <a:alpha val="0"/>
              </a:srgbClr>
            </a:solidFill>
          </p:spPr>
        </p:sp>
        <p:sp>
          <p:nvSpPr>
            <p:cNvPr name="TextBox 14" id="14"/>
            <p:cNvSpPr txBox="true"/>
            <p:nvPr/>
          </p:nvSpPr>
          <p:spPr>
            <a:xfrm>
              <a:off x="0" y="-104775"/>
              <a:ext cx="18288000" cy="2060331"/>
            </a:xfrm>
            <a:prstGeom prst="rect">
              <a:avLst/>
            </a:prstGeom>
          </p:spPr>
          <p:txBody>
            <a:bodyPr anchor="b" rtlCol="false" tIns="0" lIns="0" bIns="0" rIns="0"/>
            <a:lstStyle/>
            <a:p>
              <a:pPr algn="ctr">
                <a:lnSpc>
                  <a:spcPts val="6480"/>
                </a:lnSpc>
              </a:pPr>
              <a:r>
                <a:rPr lang="en-US" sz="5400" b="true">
                  <a:solidFill>
                    <a:srgbClr val="1CADE4"/>
                  </a:solidFill>
                  <a:latin typeface="Arial Bold"/>
                  <a:ea typeface="Arial Bold"/>
                  <a:cs typeface="Arial Bold"/>
                  <a:sym typeface="Arial Bold"/>
                </a:rPr>
                <a:t>EMPOLYEE SALARY PREDICTION</a:t>
              </a:r>
            </a:p>
          </p:txBody>
        </p:sp>
      </p:grpSp>
      <p:sp>
        <p:nvSpPr>
          <p:cNvPr name="TextBox 15" id="15"/>
          <p:cNvSpPr txBox="true"/>
          <p:nvPr/>
        </p:nvSpPr>
        <p:spPr>
          <a:xfrm rot="0">
            <a:off x="-403233" y="1501952"/>
            <a:ext cx="18907092" cy="880972"/>
          </a:xfrm>
          <a:prstGeom prst="rect">
            <a:avLst/>
          </a:prstGeom>
        </p:spPr>
        <p:txBody>
          <a:bodyPr anchor="t" rtlCol="false" tIns="0" lIns="0" bIns="0" rIns="0">
            <a:spAutoFit/>
          </a:bodyPr>
          <a:lstStyle/>
          <a:p>
            <a:pPr algn="ctr">
              <a:lnSpc>
                <a:spcPts val="5759"/>
              </a:lnSpc>
            </a:pPr>
            <a:r>
              <a:rPr lang="en-US" sz="4800" b="true">
                <a:solidFill>
                  <a:srgbClr val="1482AC"/>
                </a:solidFill>
                <a:latin typeface="Arial Bold"/>
                <a:ea typeface="Arial Bold"/>
                <a:cs typeface="Arial Bold"/>
                <a:sym typeface="Arial Bold"/>
              </a:rPr>
              <a:t>CAPSTONE PROJECT</a:t>
            </a:r>
          </a:p>
        </p:txBody>
      </p:sp>
      <p:sp>
        <p:nvSpPr>
          <p:cNvPr name="TextBox 16" id="16"/>
          <p:cNvSpPr txBox="true"/>
          <p:nvPr/>
        </p:nvSpPr>
        <p:spPr>
          <a:xfrm rot="0">
            <a:off x="4767734" y="6858592"/>
            <a:ext cx="11787394" cy="1895475"/>
          </a:xfrm>
          <a:prstGeom prst="rect">
            <a:avLst/>
          </a:prstGeom>
        </p:spPr>
        <p:txBody>
          <a:bodyPr anchor="t" rtlCol="false" tIns="0" lIns="0" bIns="0" rIns="0">
            <a:spAutoFit/>
          </a:bodyPr>
          <a:lstStyle/>
          <a:p>
            <a:pPr algn="l">
              <a:lnSpc>
                <a:spcPts val="3600"/>
              </a:lnSpc>
            </a:pPr>
            <a:r>
              <a:rPr lang="en-US" sz="3000" b="true">
                <a:solidFill>
                  <a:srgbClr val="1482AC"/>
                </a:solidFill>
                <a:latin typeface="Arial Bold"/>
                <a:ea typeface="Arial Bold"/>
                <a:cs typeface="Arial Bold"/>
                <a:sym typeface="Arial Bold"/>
              </a:rPr>
              <a:t>Presented By:</a:t>
            </a:r>
          </a:p>
          <a:p>
            <a:pPr algn="l">
              <a:lnSpc>
                <a:spcPts val="3600"/>
              </a:lnSpc>
            </a:pPr>
            <a:r>
              <a:rPr lang="en-US" sz="3000" b="true">
                <a:solidFill>
                  <a:srgbClr val="1482AC"/>
                </a:solidFill>
                <a:latin typeface="Arial Bold"/>
                <a:ea typeface="Arial Bold"/>
                <a:cs typeface="Arial Bold"/>
                <a:sym typeface="Arial Bold"/>
              </a:rPr>
              <a:t>1. Student Name - ALIT ROSE M M </a:t>
            </a:r>
          </a:p>
          <a:p>
            <a:pPr algn="l">
              <a:lnSpc>
                <a:spcPts val="3600"/>
              </a:lnSpc>
            </a:pPr>
            <a:r>
              <a:rPr lang="en-US" sz="3000" b="true">
                <a:solidFill>
                  <a:srgbClr val="1482AC"/>
                </a:solidFill>
                <a:latin typeface="Arial Bold"/>
                <a:ea typeface="Arial Bold"/>
                <a:cs typeface="Arial Bold"/>
                <a:sym typeface="Arial Bold"/>
              </a:rPr>
              <a:t>    College Name - KARUNYA UNIVERSITY </a:t>
            </a:r>
          </a:p>
          <a:p>
            <a:pPr algn="l">
              <a:lnSpc>
                <a:spcPts val="3600"/>
              </a:lnSpc>
            </a:pPr>
            <a:r>
              <a:rPr lang="en-US" sz="3000" b="true">
                <a:solidFill>
                  <a:srgbClr val="1482AC"/>
                </a:solidFill>
                <a:latin typeface="Arial Bold"/>
                <a:ea typeface="Arial Bold"/>
                <a:cs typeface="Arial Bold"/>
                <a:sym typeface="Arial Bold"/>
              </a:rPr>
              <a:t>    Department - BTech CSE (SPL IN AI AND ML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1274360" y="837702"/>
            <a:ext cx="15773400" cy="1988345"/>
            <a:chOff x="0" y="0"/>
            <a:chExt cx="21031200" cy="2651126"/>
          </a:xfrm>
        </p:grpSpPr>
        <p:sp>
          <p:nvSpPr>
            <p:cNvPr name="Freeform 11" id="11"/>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12" id="12"/>
            <p:cNvSpPr txBox="true"/>
            <p:nvPr/>
          </p:nvSpPr>
          <p:spPr>
            <a:xfrm>
              <a:off x="0" y="-85725"/>
              <a:ext cx="21031200" cy="2736851"/>
            </a:xfrm>
            <a:prstGeom prst="rect">
              <a:avLst/>
            </a:prstGeom>
          </p:spPr>
          <p:txBody>
            <a:bodyPr anchor="b" rtlCol="false" tIns="0" lIns="0" bIns="0" rIns="0"/>
            <a:lstStyle/>
            <a:p>
              <a:pPr algn="l">
                <a:lnSpc>
                  <a:spcPts val="5040"/>
                </a:lnSpc>
              </a:pPr>
              <a:r>
                <a:rPr lang="en-US" sz="4200" b="true">
                  <a:solidFill>
                    <a:srgbClr val="002060"/>
                  </a:solidFill>
                  <a:latin typeface="Arial Bold"/>
                  <a:ea typeface="Arial Bold"/>
                  <a:cs typeface="Arial Bold"/>
                  <a:sym typeface="Arial Bold"/>
                </a:rPr>
                <a:t>OUTLINE</a:t>
              </a:r>
            </a:p>
          </p:txBody>
        </p:sp>
      </p:grpSp>
      <p:sp>
        <p:nvSpPr>
          <p:cNvPr name="TextBox 13" id="13"/>
          <p:cNvSpPr txBox="true"/>
          <p:nvPr/>
        </p:nvSpPr>
        <p:spPr>
          <a:xfrm rot="0">
            <a:off x="1348740" y="2378877"/>
            <a:ext cx="16345650" cy="4507230"/>
          </a:xfrm>
          <a:prstGeom prst="rect">
            <a:avLst/>
          </a:prstGeom>
        </p:spPr>
        <p:txBody>
          <a:bodyPr anchor="t" rtlCol="false" tIns="0" lIns="0" bIns="0" rIns="0">
            <a:spAutoFit/>
          </a:bodyPr>
          <a:lstStyle/>
          <a:p>
            <a:pPr algn="l">
              <a:lnSpc>
                <a:spcPts val="3960"/>
              </a:lnSpc>
            </a:pPr>
            <a:r>
              <a:rPr lang="en-US" sz="3000" b="true">
                <a:solidFill>
                  <a:srgbClr val="404040"/>
                </a:solidFill>
                <a:latin typeface="Arial Bold"/>
                <a:ea typeface="Arial Bold"/>
                <a:cs typeface="Arial Bold"/>
                <a:sym typeface="Arial Bold"/>
              </a:rPr>
              <a:t>  </a:t>
            </a:r>
          </a:p>
          <a:p>
            <a:pPr algn="l" marL="542925" indent="-271462" lvl="1">
              <a:lnSpc>
                <a:spcPts val="3960"/>
              </a:lnSpc>
              <a:buFont typeface="Arial"/>
              <a:buChar char="•"/>
            </a:pPr>
            <a:r>
              <a:rPr lang="en-US" b="true" sz="3000">
                <a:solidFill>
                  <a:srgbClr val="404040"/>
                </a:solidFill>
                <a:latin typeface="Arial Bold"/>
                <a:ea typeface="Arial Bold"/>
                <a:cs typeface="Arial Bold"/>
                <a:sym typeface="Arial Bold"/>
              </a:rPr>
              <a:t>Problem Statement </a:t>
            </a:r>
            <a:r>
              <a:rPr lang="en-US" sz="3000">
                <a:solidFill>
                  <a:srgbClr val="404040"/>
                </a:solidFill>
                <a:latin typeface="Arial"/>
                <a:ea typeface="Arial"/>
                <a:cs typeface="Arial"/>
                <a:sym typeface="Arial"/>
              </a:rPr>
              <a:t>(Should not include solution)</a:t>
            </a:r>
          </a:p>
          <a:p>
            <a:pPr algn="l" marL="542925" indent="-271462" lvl="1">
              <a:lnSpc>
                <a:spcPts val="3960"/>
              </a:lnSpc>
              <a:buFont typeface="Arial"/>
              <a:buChar char="•"/>
            </a:pPr>
            <a:r>
              <a:rPr lang="en-US" b="true" sz="3000">
                <a:solidFill>
                  <a:srgbClr val="404040"/>
                </a:solidFill>
                <a:latin typeface="Arial Bold"/>
                <a:ea typeface="Arial Bold"/>
                <a:cs typeface="Arial Bold"/>
                <a:sym typeface="Arial Bold"/>
              </a:rPr>
              <a:t>System Development Approach </a:t>
            </a:r>
            <a:r>
              <a:rPr lang="en-US" sz="3000">
                <a:solidFill>
                  <a:srgbClr val="404040"/>
                </a:solidFill>
                <a:latin typeface="Arial"/>
                <a:ea typeface="Arial"/>
                <a:cs typeface="Arial"/>
                <a:sym typeface="Arial"/>
              </a:rPr>
              <a:t>(Technology Used) </a:t>
            </a:r>
          </a:p>
          <a:p>
            <a:pPr algn="l" marL="542925" indent="-271462" lvl="1">
              <a:lnSpc>
                <a:spcPts val="3960"/>
              </a:lnSpc>
              <a:buFont typeface="Arial"/>
              <a:buChar char="•"/>
            </a:pPr>
            <a:r>
              <a:rPr lang="en-US" b="true" sz="3000">
                <a:solidFill>
                  <a:srgbClr val="404040"/>
                </a:solidFill>
                <a:latin typeface="Arial Bold"/>
                <a:ea typeface="Arial Bold"/>
                <a:cs typeface="Arial Bold"/>
                <a:sym typeface="Arial Bold"/>
              </a:rPr>
              <a:t>Algorithm &amp; Deployment (Step by Step  Procedure) </a:t>
            </a:r>
          </a:p>
          <a:p>
            <a:pPr algn="l" marL="542925" indent="-271462" lvl="1">
              <a:lnSpc>
                <a:spcPts val="3960"/>
              </a:lnSpc>
              <a:buFont typeface="Arial"/>
              <a:buChar char="•"/>
            </a:pPr>
            <a:r>
              <a:rPr lang="en-US" b="true" sz="3000">
                <a:solidFill>
                  <a:srgbClr val="404040"/>
                </a:solidFill>
                <a:latin typeface="Arial Bold"/>
                <a:ea typeface="Arial Bold"/>
                <a:cs typeface="Arial Bold"/>
                <a:sym typeface="Arial Bold"/>
              </a:rPr>
              <a:t>Result</a:t>
            </a:r>
          </a:p>
          <a:p>
            <a:pPr algn="l" marL="542925" indent="-271462" lvl="1">
              <a:lnSpc>
                <a:spcPts val="3960"/>
              </a:lnSpc>
              <a:buFont typeface="Arial"/>
              <a:buChar char="•"/>
            </a:pPr>
            <a:r>
              <a:rPr lang="en-US" b="true" sz="3000">
                <a:solidFill>
                  <a:srgbClr val="404040"/>
                </a:solidFill>
                <a:latin typeface="Arial Bold"/>
                <a:ea typeface="Arial Bold"/>
                <a:cs typeface="Arial Bold"/>
                <a:sym typeface="Arial Bold"/>
              </a:rPr>
              <a:t>Conclusion</a:t>
            </a:r>
          </a:p>
          <a:p>
            <a:pPr algn="l" marL="542925" indent="-271462" lvl="1">
              <a:lnSpc>
                <a:spcPts val="3960"/>
              </a:lnSpc>
              <a:buFont typeface="Arial"/>
              <a:buChar char="•"/>
            </a:pPr>
            <a:r>
              <a:rPr lang="en-US" b="true" sz="3000">
                <a:solidFill>
                  <a:srgbClr val="404040"/>
                </a:solidFill>
                <a:latin typeface="Arial Bold"/>
                <a:ea typeface="Arial Bold"/>
                <a:cs typeface="Arial Bold"/>
                <a:sym typeface="Arial Bold"/>
              </a:rPr>
              <a:t>Future Scope(Optonal)</a:t>
            </a:r>
          </a:p>
          <a:p>
            <a:pPr algn="l" marL="542925" indent="-271462" lvl="1">
              <a:lnSpc>
                <a:spcPts val="3960"/>
              </a:lnSpc>
              <a:buFont typeface="Arial"/>
              <a:buChar char="•"/>
            </a:pPr>
            <a:r>
              <a:rPr lang="en-US" b="true" sz="3000">
                <a:solidFill>
                  <a:srgbClr val="404040"/>
                </a:solidFill>
                <a:latin typeface="Arial Bold"/>
                <a:ea typeface="Arial Bold"/>
                <a:cs typeface="Arial Bold"/>
                <a:sym typeface="Arial Bold"/>
              </a:rPr>
              <a:t>References</a:t>
            </a:r>
          </a:p>
          <a:p>
            <a:pPr algn="l" marL="542925" indent="-271462" lvl="1">
              <a:lnSpc>
                <a:spcPts val="396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871788" y="828296"/>
            <a:ext cx="16544424" cy="1180552"/>
            <a:chOff x="0" y="0"/>
            <a:chExt cx="22059232" cy="1574070"/>
          </a:xfrm>
        </p:grpSpPr>
        <p:sp>
          <p:nvSpPr>
            <p:cNvPr name="Freeform 11" id="11"/>
            <p:cNvSpPr/>
            <p:nvPr/>
          </p:nvSpPr>
          <p:spPr>
            <a:xfrm flipH="false" flipV="false" rot="0">
              <a:off x="0" y="0"/>
              <a:ext cx="22059232" cy="1574070"/>
            </a:xfrm>
            <a:custGeom>
              <a:avLst/>
              <a:gdLst/>
              <a:ahLst/>
              <a:cxnLst/>
              <a:rect r="r" b="b" t="t" l="l"/>
              <a:pathLst>
                <a:path h="1574070" w="22059232">
                  <a:moveTo>
                    <a:pt x="0" y="0"/>
                  </a:moveTo>
                  <a:lnTo>
                    <a:pt x="22059232" y="0"/>
                  </a:lnTo>
                  <a:lnTo>
                    <a:pt x="22059232" y="1574070"/>
                  </a:lnTo>
                  <a:lnTo>
                    <a:pt x="0" y="1574070"/>
                  </a:lnTo>
                  <a:close/>
                </a:path>
              </a:pathLst>
            </a:custGeom>
            <a:solidFill>
              <a:srgbClr val="000000">
                <a:alpha val="0"/>
              </a:srgbClr>
            </a:solidFill>
          </p:spPr>
        </p:sp>
        <p:sp>
          <p:nvSpPr>
            <p:cNvPr name="TextBox 12" id="12"/>
            <p:cNvSpPr txBox="true"/>
            <p:nvPr/>
          </p:nvSpPr>
          <p:spPr>
            <a:xfrm>
              <a:off x="0" y="-114300"/>
              <a:ext cx="22059232" cy="1688370"/>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Problem Statement</a:t>
              </a:r>
            </a:p>
          </p:txBody>
        </p:sp>
      </p:grpSp>
      <p:grpSp>
        <p:nvGrpSpPr>
          <p:cNvPr name="Group 13" id="13"/>
          <p:cNvGrpSpPr/>
          <p:nvPr/>
        </p:nvGrpSpPr>
        <p:grpSpPr>
          <a:xfrm rot="0">
            <a:off x="871790" y="1558273"/>
            <a:ext cx="16544422" cy="6181751"/>
            <a:chOff x="0" y="0"/>
            <a:chExt cx="22059230" cy="8242334"/>
          </a:xfrm>
        </p:grpSpPr>
        <p:sp>
          <p:nvSpPr>
            <p:cNvPr name="Freeform 14" id="14"/>
            <p:cNvSpPr/>
            <p:nvPr/>
          </p:nvSpPr>
          <p:spPr>
            <a:xfrm flipH="false" flipV="false" rot="0">
              <a:off x="0" y="0"/>
              <a:ext cx="22059230" cy="8242335"/>
            </a:xfrm>
            <a:custGeom>
              <a:avLst/>
              <a:gdLst/>
              <a:ahLst/>
              <a:cxnLst/>
              <a:rect r="r" b="b" t="t" l="l"/>
              <a:pathLst>
                <a:path h="8242335" w="22059230">
                  <a:moveTo>
                    <a:pt x="0" y="0"/>
                  </a:moveTo>
                  <a:lnTo>
                    <a:pt x="22059230" y="0"/>
                  </a:lnTo>
                  <a:lnTo>
                    <a:pt x="22059230" y="8242335"/>
                  </a:lnTo>
                  <a:lnTo>
                    <a:pt x="0" y="8242335"/>
                  </a:lnTo>
                  <a:close/>
                </a:path>
              </a:pathLst>
            </a:custGeom>
            <a:solidFill>
              <a:srgbClr val="000000">
                <a:alpha val="0"/>
              </a:srgbClr>
            </a:solidFill>
          </p:spPr>
        </p:sp>
        <p:sp>
          <p:nvSpPr>
            <p:cNvPr name="TextBox 15" id="15"/>
            <p:cNvSpPr txBox="true"/>
            <p:nvPr/>
          </p:nvSpPr>
          <p:spPr>
            <a:xfrm>
              <a:off x="0" y="-104775"/>
              <a:ext cx="22059230" cy="8347109"/>
            </a:xfrm>
            <a:prstGeom prst="rect">
              <a:avLst/>
            </a:prstGeom>
          </p:spPr>
          <p:txBody>
            <a:bodyPr anchor="ctr" rtlCol="false" tIns="0" lIns="0" bIns="0" rIns="0"/>
            <a:lstStyle/>
            <a:p>
              <a:pPr algn="l">
                <a:lnSpc>
                  <a:spcPts val="4488"/>
                </a:lnSpc>
              </a:pPr>
              <a:r>
                <a:rPr lang="en-US" sz="3400" b="true">
                  <a:solidFill>
                    <a:srgbClr val="404040"/>
                  </a:solidFill>
                  <a:latin typeface="ITC Franklin Gothic LT Semi-Bold"/>
                  <a:ea typeface="ITC Franklin Gothic LT Semi-Bold"/>
                  <a:cs typeface="ITC Franklin Gothic LT Semi-Bold"/>
                  <a:sym typeface="ITC Franklin Gothic LT Semi-Bold"/>
                </a:rPr>
                <a:t>In the era of data-driven decision-making, predicting employee salary categories based on demographic information is highly valuable. Organizations often face challenges in classifying whether an individual earns above or below a certain income threshold. Manual analysis of such large datasets is time-consuming and inefficient. The dataset used contains various attributes like age, workclass, education, marital status, occupation, and more. The problem is to build a predictive system that classifies individuals based on whether their salary exceeds $50K annually.</a:t>
              </a:r>
            </a:p>
            <a:p>
              <a:pPr algn="l">
                <a:lnSpc>
                  <a:spcPts val="4488"/>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862263" y="966325"/>
            <a:ext cx="16544424" cy="1101014"/>
            <a:chOff x="0" y="0"/>
            <a:chExt cx="22059232" cy="1468018"/>
          </a:xfrm>
        </p:grpSpPr>
        <p:sp>
          <p:nvSpPr>
            <p:cNvPr name="Freeform 11" id="11"/>
            <p:cNvSpPr/>
            <p:nvPr/>
          </p:nvSpPr>
          <p:spPr>
            <a:xfrm flipH="false" flipV="false" rot="0">
              <a:off x="0" y="0"/>
              <a:ext cx="22059232" cy="1468018"/>
            </a:xfrm>
            <a:custGeom>
              <a:avLst/>
              <a:gdLst/>
              <a:ahLst/>
              <a:cxnLst/>
              <a:rect r="r" b="b" t="t" l="l"/>
              <a:pathLst>
                <a:path h="1468018" w="22059232">
                  <a:moveTo>
                    <a:pt x="0" y="0"/>
                  </a:moveTo>
                  <a:lnTo>
                    <a:pt x="22059232" y="0"/>
                  </a:lnTo>
                  <a:lnTo>
                    <a:pt x="22059232" y="1468018"/>
                  </a:lnTo>
                  <a:lnTo>
                    <a:pt x="0" y="1468018"/>
                  </a:lnTo>
                  <a:close/>
                </a:path>
              </a:pathLst>
            </a:custGeom>
            <a:solidFill>
              <a:srgbClr val="000000">
                <a:alpha val="0"/>
              </a:srgbClr>
            </a:solidFill>
          </p:spPr>
        </p:sp>
        <p:sp>
          <p:nvSpPr>
            <p:cNvPr name="TextBox 12" id="12"/>
            <p:cNvSpPr txBox="true"/>
            <p:nvPr/>
          </p:nvSpPr>
          <p:spPr>
            <a:xfrm>
              <a:off x="0" y="-114300"/>
              <a:ext cx="22059232" cy="15823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System  Approach</a:t>
              </a:r>
            </a:p>
          </p:txBody>
        </p:sp>
      </p:grpSp>
      <p:grpSp>
        <p:nvGrpSpPr>
          <p:cNvPr name="Group 13" id="13"/>
          <p:cNvGrpSpPr/>
          <p:nvPr/>
        </p:nvGrpSpPr>
        <p:grpSpPr>
          <a:xfrm rot="0">
            <a:off x="871790" y="1848144"/>
            <a:ext cx="16544422" cy="7513117"/>
            <a:chOff x="0" y="0"/>
            <a:chExt cx="22059230" cy="10017490"/>
          </a:xfrm>
        </p:grpSpPr>
        <p:sp>
          <p:nvSpPr>
            <p:cNvPr name="Freeform 14" id="14"/>
            <p:cNvSpPr/>
            <p:nvPr/>
          </p:nvSpPr>
          <p:spPr>
            <a:xfrm flipH="false" flipV="false" rot="0">
              <a:off x="0" y="0"/>
              <a:ext cx="22059230" cy="10017490"/>
            </a:xfrm>
            <a:custGeom>
              <a:avLst/>
              <a:gdLst/>
              <a:ahLst/>
              <a:cxnLst/>
              <a:rect r="r" b="b" t="t" l="l"/>
              <a:pathLst>
                <a:path h="10017490" w="22059230">
                  <a:moveTo>
                    <a:pt x="0" y="0"/>
                  </a:moveTo>
                  <a:lnTo>
                    <a:pt x="22059230" y="0"/>
                  </a:lnTo>
                  <a:lnTo>
                    <a:pt x="22059230" y="10017490"/>
                  </a:lnTo>
                  <a:lnTo>
                    <a:pt x="0" y="10017490"/>
                  </a:lnTo>
                  <a:close/>
                </a:path>
              </a:pathLst>
            </a:custGeom>
            <a:solidFill>
              <a:srgbClr val="000000">
                <a:alpha val="0"/>
              </a:srgbClr>
            </a:solidFill>
          </p:spPr>
        </p:sp>
        <p:sp>
          <p:nvSpPr>
            <p:cNvPr name="TextBox 15" id="15"/>
            <p:cNvSpPr txBox="true"/>
            <p:nvPr/>
          </p:nvSpPr>
          <p:spPr>
            <a:xfrm>
              <a:off x="0" y="-85725"/>
              <a:ext cx="22059230" cy="10103215"/>
            </a:xfrm>
            <a:prstGeom prst="rect">
              <a:avLst/>
            </a:prstGeom>
          </p:spPr>
          <p:txBody>
            <a:bodyPr anchor="ctr" rtlCol="false" tIns="0" lIns="0" bIns="0" rIns="0"/>
            <a:lstStyle/>
            <a:p>
              <a:pPr algn="l">
                <a:lnSpc>
                  <a:spcPts val="3696"/>
                </a:lnSpc>
              </a:pPr>
              <a:r>
                <a:rPr lang="en-US" sz="2800" b="true">
                  <a:solidFill>
                    <a:srgbClr val="0F0F0F"/>
                  </a:solidFill>
                  <a:latin typeface="ITC Franklin Gothic LT Semi-Bold"/>
                  <a:ea typeface="ITC Franklin Gothic LT Semi-Bold"/>
                  <a:cs typeface="ITC Franklin Gothic LT Semi-Bold"/>
                  <a:sym typeface="ITC Franklin Gothic LT Semi-Bold"/>
                </a:rPr>
                <a:t>The System Approach defines the overall strategy, tools, and methodology used to build and deploy the Employee Salary Prediction model. It ensures that each component — from data processing to model evaluation — is handled in a structured, scalable, and efficient way.</a:t>
              </a:r>
            </a:p>
            <a:p>
              <a:pPr algn="l" marL="506736" indent="-253368" lvl="1">
                <a:lnSpc>
                  <a:spcPts val="3696"/>
                </a:lnSpc>
                <a:buFont typeface="Arial"/>
                <a:buChar char="•"/>
              </a:pPr>
              <a:r>
                <a:rPr lang="en-US" b="true" sz="2800">
                  <a:solidFill>
                    <a:srgbClr val="1CADE4"/>
                  </a:solidFill>
                  <a:latin typeface="ITC Franklin Gothic LT Semi-Bold"/>
                  <a:ea typeface="ITC Franklin Gothic LT Semi-Bold"/>
                  <a:cs typeface="ITC Franklin Gothic LT Semi-Bold"/>
                  <a:sym typeface="ITC Franklin Gothic LT Semi-Bold"/>
                </a:rPr>
                <a:t>System requirements</a:t>
              </a:r>
            </a:p>
            <a:p>
              <a:pPr algn="l" marL="604528" indent="-302264" lvl="1">
                <a:lnSpc>
                  <a:spcPts val="3696"/>
                </a:lnSpc>
                <a:buAutoNum type="arabicPeriod" startAt="1"/>
              </a:pPr>
              <a:r>
                <a:rPr lang="en-US" b="true" sz="2800">
                  <a:solidFill>
                    <a:srgbClr val="000000"/>
                  </a:solidFill>
                  <a:latin typeface="ITC Franklin Gothic LT Semi-Bold"/>
                  <a:ea typeface="ITC Franklin Gothic LT Semi-Bold"/>
                  <a:cs typeface="ITC Franklin Gothic LT Semi-Bold"/>
                  <a:sym typeface="ITC Franklin Gothic LT Semi-Bold"/>
                </a:rPr>
                <a:t>Platform: Google Colab (Cloud-based Jupyter Notebook)</a:t>
              </a:r>
            </a:p>
            <a:p>
              <a:pPr algn="l" marL="604528" indent="-302264" lvl="1">
                <a:lnSpc>
                  <a:spcPts val="3696"/>
                </a:lnSpc>
                <a:buAutoNum type="arabicPeriod" startAt="1"/>
              </a:pPr>
              <a:r>
                <a:rPr lang="en-US" b="true" sz="2800">
                  <a:solidFill>
                    <a:srgbClr val="000000"/>
                  </a:solidFill>
                  <a:latin typeface="ITC Franklin Gothic LT Semi-Bold"/>
                  <a:ea typeface="ITC Franklin Gothic LT Semi-Bold"/>
                  <a:cs typeface="ITC Franklin Gothic LT Semi-Bold"/>
                  <a:sym typeface="ITC Franklin Gothic LT Semi-Bold"/>
                </a:rPr>
                <a:t>Python Version: 3.7 or higher</a:t>
              </a:r>
            </a:p>
            <a:p>
              <a:pPr algn="l" marL="604528" indent="-302264" lvl="1">
                <a:lnSpc>
                  <a:spcPts val="3696"/>
                </a:lnSpc>
                <a:buAutoNum type="arabicPeriod" startAt="1"/>
              </a:pPr>
              <a:r>
                <a:rPr lang="en-US" b="true" sz="2800">
                  <a:solidFill>
                    <a:srgbClr val="000000"/>
                  </a:solidFill>
                  <a:latin typeface="ITC Franklin Gothic LT Semi-Bold"/>
                  <a:ea typeface="ITC Franklin Gothic LT Semi-Bold"/>
                  <a:cs typeface="ITC Franklin Gothic LT Semi-Bold"/>
                  <a:sym typeface="ITC Franklin Gothic LT Semi-Bold"/>
                </a:rPr>
                <a:t>RAM: Minimum 4 GB (Colab provides ~12 GB)</a:t>
              </a:r>
            </a:p>
            <a:p>
              <a:pPr algn="l" marL="604528" indent="-302264" lvl="1">
                <a:lnSpc>
                  <a:spcPts val="3696"/>
                </a:lnSpc>
                <a:buAutoNum type="arabicPeriod" startAt="1"/>
              </a:pPr>
              <a:r>
                <a:rPr lang="en-US" b="true" sz="2800">
                  <a:solidFill>
                    <a:srgbClr val="000000"/>
                  </a:solidFill>
                  <a:latin typeface="ITC Franklin Gothic LT Semi-Bold"/>
                  <a:ea typeface="ITC Franklin Gothic LT Semi-Bold"/>
                  <a:cs typeface="ITC Franklin Gothic LT Semi-Bold"/>
                  <a:sym typeface="ITC Franklin Gothic LT Semi-Bold"/>
                </a:rPr>
                <a:t>Operating System: Cross-platform (Windows/Linux/macOS)</a:t>
              </a:r>
            </a:p>
            <a:p>
              <a:pPr algn="l" marL="604528" indent="-302264" lvl="1">
                <a:lnSpc>
                  <a:spcPts val="3696"/>
                </a:lnSpc>
                <a:buAutoNum type="arabicPeriod" startAt="1"/>
              </a:pPr>
              <a:r>
                <a:rPr lang="en-US" b="true" sz="2800">
                  <a:solidFill>
                    <a:srgbClr val="000000"/>
                  </a:solidFill>
                  <a:latin typeface="ITC Franklin Gothic LT Semi-Bold"/>
                  <a:ea typeface="ITC Franklin Gothic LT Semi-Bold"/>
                  <a:cs typeface="ITC Franklin Gothic LT Semi-Bold"/>
                  <a:sym typeface="ITC Franklin Gothic LT Semi-Bold"/>
                </a:rPr>
                <a:t>Internet: Required for data upload and execution</a:t>
              </a:r>
            </a:p>
            <a:p>
              <a:pPr algn="l" marL="506736" indent="-253368" lvl="1">
                <a:lnSpc>
                  <a:spcPts val="3696"/>
                </a:lnSpc>
                <a:buFont typeface="Arial"/>
                <a:buChar char="•"/>
              </a:pPr>
              <a:r>
                <a:rPr lang="en-US" b="true" sz="2800">
                  <a:solidFill>
                    <a:srgbClr val="1CADE4"/>
                  </a:solidFill>
                  <a:latin typeface="ITC Franklin Gothic LT Semi-Bold"/>
                  <a:ea typeface="ITC Franklin Gothic LT Semi-Bold"/>
                  <a:cs typeface="ITC Franklin Gothic LT Semi-Bold"/>
                  <a:sym typeface="ITC Franklin Gothic LT Semi-Bold"/>
                </a:rPr>
                <a:t>Library required to build the model</a:t>
              </a:r>
            </a:p>
            <a:p>
              <a:pPr algn="l" marL="604528" indent="-302264" lvl="1">
                <a:lnSpc>
                  <a:spcPts val="3696"/>
                </a:lnSpc>
                <a:buAutoNum type="arabicPeriod" startAt="1"/>
              </a:pPr>
              <a:r>
                <a:rPr lang="en-US" b="true" sz="2800">
                  <a:solidFill>
                    <a:srgbClr val="0F0E0E"/>
                  </a:solidFill>
                  <a:latin typeface="ITC Franklin Gothic LT Semi-Bold"/>
                  <a:ea typeface="ITC Franklin Gothic LT Semi-Bold"/>
                  <a:cs typeface="ITC Franklin Gothic LT Semi-Bold"/>
                  <a:sym typeface="ITC Franklin Gothic LT Semi-Bold"/>
                </a:rPr>
                <a:t>pandas – Data loading and preprocessing</a:t>
              </a:r>
            </a:p>
            <a:p>
              <a:pPr algn="l" marL="604528" indent="-302264" lvl="1">
                <a:lnSpc>
                  <a:spcPts val="3696"/>
                </a:lnSpc>
                <a:buAutoNum type="arabicPeriod" startAt="1"/>
              </a:pPr>
              <a:r>
                <a:rPr lang="en-US" b="true" sz="2800">
                  <a:solidFill>
                    <a:srgbClr val="0F0E0E"/>
                  </a:solidFill>
                  <a:latin typeface="ITC Franklin Gothic LT Semi-Bold"/>
                  <a:ea typeface="ITC Franklin Gothic LT Semi-Bold"/>
                  <a:cs typeface="ITC Franklin Gothic LT Semi-Bold"/>
                  <a:sym typeface="ITC Franklin Gothic LT Semi-Bold"/>
                </a:rPr>
                <a:t>matplotlib – Basic data visualization</a:t>
              </a:r>
            </a:p>
            <a:p>
              <a:pPr algn="l" marL="604528" indent="-302264" lvl="1">
                <a:lnSpc>
                  <a:spcPts val="3696"/>
                </a:lnSpc>
                <a:buAutoNum type="arabicPeriod" startAt="1"/>
              </a:pPr>
              <a:r>
                <a:rPr lang="en-US" b="true" sz="2800">
                  <a:solidFill>
                    <a:srgbClr val="0F0E0E"/>
                  </a:solidFill>
                  <a:latin typeface="ITC Franklin Gothic LT Semi-Bold"/>
                  <a:ea typeface="ITC Franklin Gothic LT Semi-Bold"/>
                  <a:cs typeface="ITC Franklin Gothic LT Semi-Bold"/>
                  <a:sym typeface="ITC Franklin Gothic LT Semi-Bold"/>
                </a:rPr>
                <a:t>seaborn – Statistical data visualization</a:t>
              </a:r>
            </a:p>
            <a:p>
              <a:pPr algn="l" marL="604528" indent="-302264" lvl="1">
                <a:lnSpc>
                  <a:spcPts val="3696"/>
                </a:lnSpc>
                <a:buAutoNum type="arabicPeriod" startAt="1"/>
              </a:pPr>
              <a:r>
                <a:rPr lang="en-US" b="true" sz="2800">
                  <a:solidFill>
                    <a:srgbClr val="0F0E0E"/>
                  </a:solidFill>
                  <a:latin typeface="ITC Franklin Gothic LT Semi-Bold"/>
                  <a:ea typeface="ITC Franklin Gothic LT Semi-Bold"/>
                  <a:cs typeface="ITC Franklin Gothic LT Semi-Bold"/>
                  <a:sym typeface="ITC Franklin Gothic LT Semi-Bold"/>
                </a:rPr>
                <a:t>sklearn – Machine learning algorithms &amp; evaluation tools</a:t>
              </a:r>
            </a:p>
            <a:p>
              <a:pPr algn="l" marL="604528" indent="-302264" lvl="1">
                <a:lnSpc>
                  <a:spcPts val="3696"/>
                </a:lnSpc>
                <a:buAutoNum type="arabicPeriod" startAt="1"/>
              </a:pPr>
              <a:r>
                <a:rPr lang="en-US" b="true" sz="2800">
                  <a:solidFill>
                    <a:srgbClr val="0F0E0E"/>
                  </a:solidFill>
                  <a:latin typeface="ITC Franklin Gothic LT Semi-Bold"/>
                  <a:ea typeface="ITC Franklin Gothic LT Semi-Bold"/>
                  <a:cs typeface="ITC Franklin Gothic LT Semi-Bold"/>
                  <a:sym typeface="ITC Franklin Gothic LT Semi-Bold"/>
                </a:rPr>
                <a:t>joblib – Saving and loading the trained model</a:t>
              </a:r>
            </a:p>
            <a:p>
              <a:pPr algn="l" marL="604528" indent="-302264" lvl="1">
                <a:lnSpc>
                  <a:spcPts val="3696"/>
                </a:lnSpc>
                <a:buAutoNum type="arabicPeriod" startAt="1"/>
              </a:pPr>
              <a:r>
                <a:rPr lang="en-US" b="true" sz="2800">
                  <a:solidFill>
                    <a:srgbClr val="0F0E0E"/>
                  </a:solidFill>
                  <a:latin typeface="ITC Franklin Gothic LT Semi-Bold"/>
                  <a:ea typeface="ITC Franklin Gothic LT Semi-Bold"/>
                  <a:cs typeface="ITC Franklin Gothic LT Semi-Bold"/>
                  <a:sym typeface="ITC Franklin Gothic LT Semi-Bold"/>
                </a:rPr>
                <a:t>google.colab – Uploading files into Colab runtime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871788" y="937750"/>
            <a:ext cx="16544424" cy="1101014"/>
            <a:chOff x="0" y="0"/>
            <a:chExt cx="22059232" cy="1468018"/>
          </a:xfrm>
        </p:grpSpPr>
        <p:sp>
          <p:nvSpPr>
            <p:cNvPr name="Freeform 11" id="11"/>
            <p:cNvSpPr/>
            <p:nvPr/>
          </p:nvSpPr>
          <p:spPr>
            <a:xfrm flipH="false" flipV="false" rot="0">
              <a:off x="0" y="0"/>
              <a:ext cx="22059232" cy="1468018"/>
            </a:xfrm>
            <a:custGeom>
              <a:avLst/>
              <a:gdLst/>
              <a:ahLst/>
              <a:cxnLst/>
              <a:rect r="r" b="b" t="t" l="l"/>
              <a:pathLst>
                <a:path h="1468018" w="22059232">
                  <a:moveTo>
                    <a:pt x="0" y="0"/>
                  </a:moveTo>
                  <a:lnTo>
                    <a:pt x="22059232" y="0"/>
                  </a:lnTo>
                  <a:lnTo>
                    <a:pt x="22059232" y="1468018"/>
                  </a:lnTo>
                  <a:lnTo>
                    <a:pt x="0" y="1468018"/>
                  </a:lnTo>
                  <a:close/>
                </a:path>
              </a:pathLst>
            </a:custGeom>
            <a:solidFill>
              <a:srgbClr val="000000">
                <a:alpha val="0"/>
              </a:srgbClr>
            </a:solidFill>
          </p:spPr>
        </p:sp>
        <p:sp>
          <p:nvSpPr>
            <p:cNvPr name="TextBox 12" id="12"/>
            <p:cNvSpPr txBox="true"/>
            <p:nvPr/>
          </p:nvSpPr>
          <p:spPr>
            <a:xfrm>
              <a:off x="0" y="-114300"/>
              <a:ext cx="22059232" cy="15823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Algorithm &amp; Deployment</a:t>
              </a:r>
            </a:p>
          </p:txBody>
        </p:sp>
      </p:grpSp>
      <p:grpSp>
        <p:nvGrpSpPr>
          <p:cNvPr name="Group 13" id="13"/>
          <p:cNvGrpSpPr/>
          <p:nvPr/>
        </p:nvGrpSpPr>
        <p:grpSpPr>
          <a:xfrm rot="0">
            <a:off x="385722" y="2038764"/>
            <a:ext cx="16544422" cy="8875421"/>
            <a:chOff x="0" y="0"/>
            <a:chExt cx="22059230" cy="11833894"/>
          </a:xfrm>
        </p:grpSpPr>
        <p:sp>
          <p:nvSpPr>
            <p:cNvPr name="Freeform 14" id="14"/>
            <p:cNvSpPr/>
            <p:nvPr/>
          </p:nvSpPr>
          <p:spPr>
            <a:xfrm flipH="false" flipV="false" rot="0">
              <a:off x="0" y="0"/>
              <a:ext cx="22059230" cy="11833895"/>
            </a:xfrm>
            <a:custGeom>
              <a:avLst/>
              <a:gdLst/>
              <a:ahLst/>
              <a:cxnLst/>
              <a:rect r="r" b="b" t="t" l="l"/>
              <a:pathLst>
                <a:path h="11833895" w="22059230">
                  <a:moveTo>
                    <a:pt x="0" y="0"/>
                  </a:moveTo>
                  <a:lnTo>
                    <a:pt x="22059230" y="0"/>
                  </a:lnTo>
                  <a:lnTo>
                    <a:pt x="22059230" y="11833895"/>
                  </a:lnTo>
                  <a:lnTo>
                    <a:pt x="0" y="11833895"/>
                  </a:lnTo>
                  <a:close/>
                </a:path>
              </a:pathLst>
            </a:custGeom>
            <a:solidFill>
              <a:srgbClr val="000000">
                <a:alpha val="0"/>
              </a:srgbClr>
            </a:solidFill>
          </p:spPr>
        </p:sp>
        <p:sp>
          <p:nvSpPr>
            <p:cNvPr name="TextBox 15" id="15"/>
            <p:cNvSpPr txBox="true"/>
            <p:nvPr/>
          </p:nvSpPr>
          <p:spPr>
            <a:xfrm>
              <a:off x="0" y="-104775"/>
              <a:ext cx="22059230" cy="11938669"/>
            </a:xfrm>
            <a:prstGeom prst="rect">
              <a:avLst/>
            </a:prstGeom>
          </p:spPr>
          <p:txBody>
            <a:bodyPr anchor="ctr" rtlCol="false" tIns="0" lIns="0" bIns="0" rIns="0"/>
            <a:lstStyle/>
            <a:p>
              <a:pPr algn="l" marL="734064" indent="-367032" lvl="1">
                <a:lnSpc>
                  <a:spcPts val="4488"/>
                </a:lnSpc>
                <a:buFont typeface="Arial"/>
                <a:buChar char="•"/>
              </a:pPr>
              <a:r>
                <a:rPr lang="en-US" b="true" sz="3400">
                  <a:solidFill>
                    <a:srgbClr val="000000"/>
                  </a:solidFill>
                  <a:latin typeface="ITC Franklin Gothic LT Semi-Bold"/>
                  <a:ea typeface="ITC Franklin Gothic LT Semi-Bold"/>
                  <a:cs typeface="ITC Franklin Gothic LT Semi-Bold"/>
                  <a:sym typeface="ITC Franklin Gothic LT Semi-Bold"/>
                </a:rPr>
                <a:t>Step 1: Data Collection</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Loaded adult 3.csv dataset using pandas in Google Colab.</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Explored dataset using .head(), .tail(), .shape(), and .info().</a:t>
              </a:r>
            </a:p>
            <a:p>
              <a:pPr algn="l" marL="734064" indent="-367032" lvl="1">
                <a:lnSpc>
                  <a:spcPts val="4488"/>
                </a:lnSpc>
                <a:buFont typeface="Arial"/>
                <a:buChar char="•"/>
              </a:pPr>
              <a:r>
                <a:rPr lang="en-US" b="true" sz="3400">
                  <a:solidFill>
                    <a:srgbClr val="000000"/>
                  </a:solidFill>
                  <a:latin typeface="ITC Franklin Gothic LT Semi-Bold"/>
                  <a:ea typeface="ITC Franklin Gothic LT Semi-Bold"/>
                  <a:cs typeface="ITC Franklin Gothic LT Semi-Bold"/>
                  <a:sym typeface="ITC Franklin Gothic LT Semi-Bold"/>
                </a:rPr>
                <a:t>Step 2: Data Cleaning &amp; Preprocessing</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Replaced missing values (?) with NaN and removed incomplete rows.</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Dropped irrelevant rows (Without-pay, Never-worked) and low-level education    </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categories.</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Applied Label Encoding to convert categorical columns into numeric format.</a:t>
              </a:r>
            </a:p>
            <a:p>
              <a:pPr algn="l" marL="734064" indent="-367032" lvl="1">
                <a:lnSpc>
                  <a:spcPts val="4488"/>
                </a:lnSpc>
                <a:buFont typeface="Arial"/>
                <a:buChar char="•"/>
              </a:pPr>
              <a:r>
                <a:rPr lang="en-US" b="true" sz="3400">
                  <a:solidFill>
                    <a:srgbClr val="000000"/>
                  </a:solidFill>
                  <a:latin typeface="ITC Franklin Gothic LT Semi-Bold"/>
                  <a:ea typeface="ITC Franklin Gothic LT Semi-Bold"/>
                  <a:cs typeface="ITC Franklin Gothic LT Semi-Bold"/>
                  <a:sym typeface="ITC Franklin Gothic LT Semi-Bold"/>
                </a:rPr>
                <a:t>Step 3: Exploratory Data Analysis</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Used value_counts() to analyze feature distributions (e.g., workclass, education).</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Visualized age with a boxplot to detect outliers.</a:t>
              </a:r>
            </a:p>
            <a:p>
              <a:pPr algn="l" marL="734064" indent="-367032" lvl="1">
                <a:lnSpc>
                  <a:spcPts val="4488"/>
                </a:lnSpc>
                <a:buFont typeface="Arial"/>
                <a:buChar char="•"/>
              </a:pPr>
              <a:r>
                <a:rPr lang="en-US" b="true" sz="3400">
                  <a:solidFill>
                    <a:srgbClr val="000000"/>
                  </a:solidFill>
                  <a:latin typeface="ITC Franklin Gothic LT Semi-Bold"/>
                  <a:ea typeface="ITC Franklin Gothic LT Semi-Bold"/>
                  <a:cs typeface="ITC Franklin Gothic LT Semi-Bold"/>
                  <a:sym typeface="ITC Franklin Gothic LT Semi-Bold"/>
                </a:rPr>
                <a:t>Step 4: Feature &amp; Target Separation</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Split dataset into:</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X: All input features</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        </a:t>
              </a:r>
              <a:r>
                <a:rPr lang="en-US" sz="3000" b="true">
                  <a:solidFill>
                    <a:srgbClr val="000000"/>
                  </a:solidFill>
                  <a:latin typeface="ITC Franklin Gothic LT Semi-Bold"/>
                  <a:ea typeface="ITC Franklin Gothic LT Semi-Bold"/>
                  <a:cs typeface="ITC Franklin Gothic LT Semi-Bold"/>
                  <a:sym typeface="ITC Franklin Gothic LT Semi-Bold"/>
                </a:rPr>
                <a:t>y: Target column (income)</a:t>
              </a:r>
            </a:p>
            <a:p>
              <a:pPr algn="l">
                <a:lnSpc>
                  <a:spcPts val="4488"/>
                </a:lnSpc>
              </a:pPr>
            </a:p>
            <a:p>
              <a:pPr algn="l">
                <a:lnSpc>
                  <a:spcPts val="4488"/>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p:nvPr/>
        </p:nvGrpSpPr>
        <p:grpSpPr>
          <a:xfrm rot="0">
            <a:off x="871788" y="937750"/>
            <a:ext cx="16544424" cy="1101014"/>
            <a:chOff x="0" y="0"/>
            <a:chExt cx="22059232" cy="1468018"/>
          </a:xfrm>
        </p:grpSpPr>
        <p:sp>
          <p:nvSpPr>
            <p:cNvPr name="Freeform 9" id="9"/>
            <p:cNvSpPr/>
            <p:nvPr/>
          </p:nvSpPr>
          <p:spPr>
            <a:xfrm flipH="false" flipV="false" rot="0">
              <a:off x="0" y="0"/>
              <a:ext cx="22059232" cy="1468018"/>
            </a:xfrm>
            <a:custGeom>
              <a:avLst/>
              <a:gdLst/>
              <a:ahLst/>
              <a:cxnLst/>
              <a:rect r="r" b="b" t="t" l="l"/>
              <a:pathLst>
                <a:path h="1468018" w="22059232">
                  <a:moveTo>
                    <a:pt x="0" y="0"/>
                  </a:moveTo>
                  <a:lnTo>
                    <a:pt x="22059232" y="0"/>
                  </a:lnTo>
                  <a:lnTo>
                    <a:pt x="22059232" y="1468018"/>
                  </a:lnTo>
                  <a:lnTo>
                    <a:pt x="0" y="1468018"/>
                  </a:lnTo>
                  <a:close/>
                </a:path>
              </a:pathLst>
            </a:custGeom>
            <a:solidFill>
              <a:srgbClr val="000000">
                <a:alpha val="0"/>
              </a:srgbClr>
            </a:solidFill>
          </p:spPr>
        </p:sp>
        <p:sp>
          <p:nvSpPr>
            <p:cNvPr name="TextBox 10" id="10"/>
            <p:cNvSpPr txBox="true"/>
            <p:nvPr/>
          </p:nvSpPr>
          <p:spPr>
            <a:xfrm>
              <a:off x="0" y="-114300"/>
              <a:ext cx="22059232" cy="15823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Algorithm &amp; Deployment</a:t>
              </a:r>
            </a:p>
          </p:txBody>
        </p:sp>
      </p:grpSp>
      <p:grpSp>
        <p:nvGrpSpPr>
          <p:cNvPr name="Group 11" id="11"/>
          <p:cNvGrpSpPr>
            <a:grpSpLocks noChangeAspect="true"/>
          </p:cNvGrpSpPr>
          <p:nvPr/>
        </p:nvGrpSpPr>
        <p:grpSpPr>
          <a:xfrm rot="0">
            <a:off x="15727505" y="9656865"/>
            <a:ext cx="1688707" cy="547689"/>
            <a:chOff x="0" y="0"/>
            <a:chExt cx="2251610" cy="730252"/>
          </a:xfrm>
        </p:grpSpPr>
        <p:sp>
          <p:nvSpPr>
            <p:cNvPr name="Freeform 12" id="12"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sp>
        <p:nvSpPr>
          <p:cNvPr name="TextBox 13" id="13"/>
          <p:cNvSpPr txBox="true"/>
          <p:nvPr/>
        </p:nvSpPr>
        <p:spPr>
          <a:xfrm rot="0">
            <a:off x="358900" y="1972089"/>
            <a:ext cx="15239286" cy="6753225"/>
          </a:xfrm>
          <a:prstGeom prst="rect">
            <a:avLst/>
          </a:prstGeom>
        </p:spPr>
        <p:txBody>
          <a:bodyPr anchor="t" rtlCol="false" tIns="0" lIns="0" bIns="0" rIns="0">
            <a:spAutoFit/>
          </a:bodyPr>
          <a:lstStyle/>
          <a:p>
            <a:pPr algn="l" marL="734059" indent="-367030" lvl="1">
              <a:lnSpc>
                <a:spcPts val="4079"/>
              </a:lnSpc>
              <a:buFont typeface="Arial"/>
              <a:buChar char="•"/>
            </a:pPr>
            <a:r>
              <a:rPr lang="en-US" b="true" sz="3399">
                <a:solidFill>
                  <a:srgbClr val="000000"/>
                </a:solidFill>
                <a:latin typeface="Arial Bold"/>
                <a:ea typeface="Arial Bold"/>
                <a:cs typeface="Arial Bold"/>
                <a:sym typeface="Arial Bold"/>
              </a:rPr>
              <a:t>Step 5: Train-Test Split</a:t>
            </a:r>
          </a:p>
          <a:p>
            <a:pPr algn="l">
              <a:lnSpc>
                <a:spcPts val="3600"/>
              </a:lnSpc>
            </a:pPr>
            <a:r>
              <a:rPr lang="en-US" b="true" sz="3000">
                <a:solidFill>
                  <a:srgbClr val="000000"/>
                </a:solidFill>
                <a:latin typeface="Arial Bold"/>
                <a:ea typeface="Arial Bold"/>
                <a:cs typeface="Arial Bold"/>
                <a:sym typeface="Arial Bold"/>
              </a:rPr>
              <a:t>          Divided data into training and testing sets (80% / 20%) using train_test_split.</a:t>
            </a:r>
          </a:p>
          <a:p>
            <a:pPr algn="l" marL="734059" indent="-367030" lvl="1">
              <a:lnSpc>
                <a:spcPts val="4079"/>
              </a:lnSpc>
              <a:buFont typeface="Arial"/>
              <a:buChar char="•"/>
            </a:pPr>
            <a:r>
              <a:rPr lang="en-US" b="true" sz="3399">
                <a:solidFill>
                  <a:srgbClr val="000000"/>
                </a:solidFill>
                <a:latin typeface="Arial Bold"/>
                <a:ea typeface="Arial Bold"/>
                <a:cs typeface="Arial Bold"/>
                <a:sym typeface="Arial Bold"/>
              </a:rPr>
              <a:t> Step 6: Model Training</a:t>
            </a:r>
          </a:p>
          <a:p>
            <a:pPr algn="l">
              <a:lnSpc>
                <a:spcPts val="3600"/>
              </a:lnSpc>
            </a:pPr>
            <a:r>
              <a:rPr lang="en-US" b="true" sz="3000">
                <a:solidFill>
                  <a:srgbClr val="000000"/>
                </a:solidFill>
                <a:latin typeface="Arial Bold"/>
                <a:ea typeface="Arial Bold"/>
                <a:cs typeface="Arial Bold"/>
                <a:sym typeface="Arial Bold"/>
              </a:rPr>
              <a:t>          Used Random Forest Classifier from sklearn to train the model on the training </a:t>
            </a:r>
          </a:p>
          <a:p>
            <a:pPr algn="l">
              <a:lnSpc>
                <a:spcPts val="3600"/>
              </a:lnSpc>
            </a:pPr>
            <a:r>
              <a:rPr lang="en-US" b="true" sz="3000">
                <a:solidFill>
                  <a:srgbClr val="000000"/>
                </a:solidFill>
                <a:latin typeface="Arial Bold"/>
                <a:ea typeface="Arial Bold"/>
                <a:cs typeface="Arial Bold"/>
                <a:sym typeface="Arial Bold"/>
              </a:rPr>
              <a:t>          </a:t>
            </a:r>
            <a:r>
              <a:rPr lang="en-US" b="true" sz="3000">
                <a:solidFill>
                  <a:srgbClr val="000000"/>
                </a:solidFill>
                <a:latin typeface="Arial Bold"/>
                <a:ea typeface="Arial Bold"/>
                <a:cs typeface="Arial Bold"/>
                <a:sym typeface="Arial Bold"/>
              </a:rPr>
              <a:t>data.</a:t>
            </a:r>
          </a:p>
          <a:p>
            <a:pPr algn="l" marL="734059" indent="-367030" lvl="1">
              <a:lnSpc>
                <a:spcPts val="4079"/>
              </a:lnSpc>
              <a:buFont typeface="Arial"/>
              <a:buChar char="•"/>
            </a:pPr>
            <a:r>
              <a:rPr lang="en-US" b="true" sz="3399">
                <a:solidFill>
                  <a:srgbClr val="000000"/>
                </a:solidFill>
                <a:latin typeface="Arial Bold"/>
                <a:ea typeface="Arial Bold"/>
                <a:cs typeface="Arial Bold"/>
                <a:sym typeface="Arial Bold"/>
              </a:rPr>
              <a:t>Step 7: Model Evaluation</a:t>
            </a:r>
          </a:p>
          <a:p>
            <a:pPr algn="l">
              <a:lnSpc>
                <a:spcPts val="3600"/>
              </a:lnSpc>
            </a:pPr>
            <a:r>
              <a:rPr lang="en-US" b="true" sz="3000">
                <a:solidFill>
                  <a:srgbClr val="000000"/>
                </a:solidFill>
                <a:latin typeface="Arial Bold"/>
                <a:ea typeface="Arial Bold"/>
                <a:cs typeface="Arial Bold"/>
                <a:sym typeface="Arial Bold"/>
              </a:rPr>
              <a:t>         Evaluated the model using:</a:t>
            </a:r>
          </a:p>
          <a:p>
            <a:pPr algn="l">
              <a:lnSpc>
                <a:spcPts val="3600"/>
              </a:lnSpc>
            </a:pPr>
            <a:r>
              <a:rPr lang="en-US" b="true" sz="3000">
                <a:solidFill>
                  <a:srgbClr val="000000"/>
                </a:solidFill>
                <a:latin typeface="Arial Bold"/>
                <a:ea typeface="Arial Bold"/>
                <a:cs typeface="Arial Bold"/>
                <a:sym typeface="Arial Bold"/>
              </a:rPr>
              <a:t>         </a:t>
            </a:r>
            <a:r>
              <a:rPr lang="en-US" b="true" sz="3000">
                <a:solidFill>
                  <a:srgbClr val="000000"/>
                </a:solidFill>
                <a:latin typeface="Arial Bold"/>
                <a:ea typeface="Arial Bold"/>
                <a:cs typeface="Arial Bold"/>
                <a:sym typeface="Arial Bold"/>
              </a:rPr>
              <a:t>Accuracy Score</a:t>
            </a:r>
          </a:p>
          <a:p>
            <a:pPr algn="l">
              <a:lnSpc>
                <a:spcPts val="3600"/>
              </a:lnSpc>
            </a:pPr>
            <a:r>
              <a:rPr lang="en-US" b="true" sz="3000">
                <a:solidFill>
                  <a:srgbClr val="000000"/>
                </a:solidFill>
                <a:latin typeface="Arial Bold"/>
                <a:ea typeface="Arial Bold"/>
                <a:cs typeface="Arial Bold"/>
                <a:sym typeface="Arial Bold"/>
              </a:rPr>
              <a:t>         </a:t>
            </a:r>
            <a:r>
              <a:rPr lang="en-US" b="true" sz="3000">
                <a:solidFill>
                  <a:srgbClr val="000000"/>
                </a:solidFill>
                <a:latin typeface="Arial Bold"/>
                <a:ea typeface="Arial Bold"/>
                <a:cs typeface="Arial Bold"/>
                <a:sym typeface="Arial Bold"/>
              </a:rPr>
              <a:t>Classification Report (Precision, Recall, F1)</a:t>
            </a:r>
          </a:p>
          <a:p>
            <a:pPr algn="l">
              <a:lnSpc>
                <a:spcPts val="3600"/>
              </a:lnSpc>
            </a:pPr>
            <a:r>
              <a:rPr lang="en-US" b="true" sz="3000">
                <a:solidFill>
                  <a:srgbClr val="000000"/>
                </a:solidFill>
                <a:latin typeface="Arial Bold"/>
                <a:ea typeface="Arial Bold"/>
                <a:cs typeface="Arial Bold"/>
                <a:sym typeface="Arial Bold"/>
              </a:rPr>
              <a:t>         </a:t>
            </a:r>
            <a:r>
              <a:rPr lang="en-US" b="true" sz="3000">
                <a:solidFill>
                  <a:srgbClr val="000000"/>
                </a:solidFill>
                <a:latin typeface="Arial Bold"/>
                <a:ea typeface="Arial Bold"/>
                <a:cs typeface="Arial Bold"/>
                <a:sym typeface="Arial Bold"/>
              </a:rPr>
              <a:t>Confusion Matrix</a:t>
            </a:r>
          </a:p>
          <a:p>
            <a:pPr algn="l" marL="734059" indent="-367030" lvl="1">
              <a:lnSpc>
                <a:spcPts val="4079"/>
              </a:lnSpc>
              <a:buFont typeface="Arial"/>
              <a:buChar char="•"/>
            </a:pPr>
            <a:r>
              <a:rPr lang="en-US" b="true" sz="3399">
                <a:solidFill>
                  <a:srgbClr val="000000"/>
                </a:solidFill>
                <a:latin typeface="Arial Bold"/>
                <a:ea typeface="Arial Bold"/>
                <a:cs typeface="Arial Bold"/>
                <a:sym typeface="Arial Bold"/>
              </a:rPr>
              <a:t>Step 8: Feature Importance (Optional)</a:t>
            </a:r>
          </a:p>
          <a:p>
            <a:pPr algn="l">
              <a:lnSpc>
                <a:spcPts val="3600"/>
              </a:lnSpc>
            </a:pPr>
            <a:r>
              <a:rPr lang="en-US" b="true" sz="3000">
                <a:solidFill>
                  <a:srgbClr val="000000"/>
                </a:solidFill>
                <a:latin typeface="Arial Bold"/>
                <a:ea typeface="Arial Bold"/>
                <a:cs typeface="Arial Bold"/>
                <a:sym typeface="Arial Bold"/>
              </a:rPr>
              <a:t>         Plotted important features influencing salary prediction using matplotlib.</a:t>
            </a:r>
          </a:p>
          <a:p>
            <a:pPr algn="l" marL="734059" indent="-367030" lvl="1">
              <a:lnSpc>
                <a:spcPts val="4079"/>
              </a:lnSpc>
              <a:buFont typeface="Arial"/>
              <a:buChar char="•"/>
            </a:pPr>
            <a:r>
              <a:rPr lang="en-US" b="true" sz="3399">
                <a:solidFill>
                  <a:srgbClr val="000000"/>
                </a:solidFill>
                <a:latin typeface="Arial Bold"/>
                <a:ea typeface="Arial Bold"/>
                <a:cs typeface="Arial Bold"/>
                <a:sym typeface="Arial Bold"/>
              </a:rPr>
              <a:t>Step 9: Model Saving (Optional)</a:t>
            </a:r>
          </a:p>
          <a:p>
            <a:pPr algn="l">
              <a:lnSpc>
                <a:spcPts val="3600"/>
              </a:lnSpc>
            </a:pPr>
            <a:r>
              <a:rPr lang="en-US" b="true" sz="3000">
                <a:solidFill>
                  <a:srgbClr val="000000"/>
                </a:solidFill>
                <a:latin typeface="Arial Bold"/>
                <a:ea typeface="Arial Bold"/>
                <a:cs typeface="Arial Bold"/>
                <a:sym typeface="Arial Bold"/>
              </a:rPr>
              <a:t>        Saved trained model using joblib for future reuse.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871788" y="803876"/>
            <a:ext cx="16544424" cy="1168214"/>
            <a:chOff x="0" y="0"/>
            <a:chExt cx="22059232" cy="1557618"/>
          </a:xfrm>
        </p:grpSpPr>
        <p:sp>
          <p:nvSpPr>
            <p:cNvPr name="Freeform 11" id="11"/>
            <p:cNvSpPr/>
            <p:nvPr/>
          </p:nvSpPr>
          <p:spPr>
            <a:xfrm flipH="false" flipV="false" rot="0">
              <a:off x="0" y="0"/>
              <a:ext cx="22059232" cy="1557618"/>
            </a:xfrm>
            <a:custGeom>
              <a:avLst/>
              <a:gdLst/>
              <a:ahLst/>
              <a:cxnLst/>
              <a:rect r="r" b="b" t="t" l="l"/>
              <a:pathLst>
                <a:path h="1557618" w="22059232">
                  <a:moveTo>
                    <a:pt x="0" y="0"/>
                  </a:moveTo>
                  <a:lnTo>
                    <a:pt x="22059232" y="0"/>
                  </a:lnTo>
                  <a:lnTo>
                    <a:pt x="22059232" y="1557618"/>
                  </a:lnTo>
                  <a:lnTo>
                    <a:pt x="0" y="1557618"/>
                  </a:lnTo>
                  <a:close/>
                </a:path>
              </a:pathLst>
            </a:custGeom>
            <a:solidFill>
              <a:srgbClr val="000000">
                <a:alpha val="0"/>
              </a:srgbClr>
            </a:solidFill>
          </p:spPr>
        </p:sp>
        <p:sp>
          <p:nvSpPr>
            <p:cNvPr name="TextBox 12" id="12"/>
            <p:cNvSpPr txBox="true"/>
            <p:nvPr/>
          </p:nvSpPr>
          <p:spPr>
            <a:xfrm>
              <a:off x="0" y="-114300"/>
              <a:ext cx="22059232" cy="16719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Result</a:t>
              </a:r>
            </a:p>
          </p:txBody>
        </p:sp>
      </p:grpSp>
      <p:grpSp>
        <p:nvGrpSpPr>
          <p:cNvPr name="Group 13" id="13"/>
          <p:cNvGrpSpPr/>
          <p:nvPr/>
        </p:nvGrpSpPr>
        <p:grpSpPr>
          <a:xfrm rot="0">
            <a:off x="460344" y="1972089"/>
            <a:ext cx="16544422" cy="3544900"/>
            <a:chOff x="0" y="0"/>
            <a:chExt cx="22059230" cy="4726534"/>
          </a:xfrm>
        </p:grpSpPr>
        <p:sp>
          <p:nvSpPr>
            <p:cNvPr name="Freeform 14" id="14"/>
            <p:cNvSpPr/>
            <p:nvPr/>
          </p:nvSpPr>
          <p:spPr>
            <a:xfrm flipH="false" flipV="false" rot="0">
              <a:off x="0" y="0"/>
              <a:ext cx="22059230" cy="4726534"/>
            </a:xfrm>
            <a:custGeom>
              <a:avLst/>
              <a:gdLst/>
              <a:ahLst/>
              <a:cxnLst/>
              <a:rect r="r" b="b" t="t" l="l"/>
              <a:pathLst>
                <a:path h="4726534" w="22059230">
                  <a:moveTo>
                    <a:pt x="0" y="0"/>
                  </a:moveTo>
                  <a:lnTo>
                    <a:pt x="22059230" y="0"/>
                  </a:lnTo>
                  <a:lnTo>
                    <a:pt x="22059230" y="4726534"/>
                  </a:lnTo>
                  <a:lnTo>
                    <a:pt x="0" y="4726534"/>
                  </a:lnTo>
                  <a:close/>
                </a:path>
              </a:pathLst>
            </a:custGeom>
            <a:solidFill>
              <a:srgbClr val="000000">
                <a:alpha val="0"/>
              </a:srgbClr>
            </a:solidFill>
          </p:spPr>
        </p:sp>
        <p:sp>
          <p:nvSpPr>
            <p:cNvPr name="TextBox 15" id="15"/>
            <p:cNvSpPr txBox="true"/>
            <p:nvPr/>
          </p:nvSpPr>
          <p:spPr>
            <a:xfrm>
              <a:off x="0" y="-133350"/>
              <a:ext cx="22059230" cy="4859884"/>
            </a:xfrm>
            <a:prstGeom prst="rect">
              <a:avLst/>
            </a:prstGeom>
          </p:spPr>
          <p:txBody>
            <a:bodyPr anchor="ctr" rtlCol="false" tIns="0" lIns="0" bIns="0" rIns="0"/>
            <a:lstStyle/>
            <a:p>
              <a:pPr algn="l" marL="760095" indent="-380048" lvl="1">
                <a:lnSpc>
                  <a:spcPts val="5544"/>
                </a:lnSpc>
                <a:buFont typeface="Arial"/>
                <a:buChar char="•"/>
              </a:pPr>
              <a:r>
                <a:rPr lang="en-US" b="true" sz="4200">
                  <a:solidFill>
                    <a:srgbClr val="404040"/>
                  </a:solidFill>
                  <a:latin typeface="ITC Franklin Gothic LT Semi-Bold"/>
                  <a:ea typeface="ITC Franklin Gothic LT Semi-Bold"/>
                  <a:cs typeface="ITC Franklin Gothic LT Semi-Bold"/>
                  <a:sym typeface="ITC Franklin Gothic LT Semi-Bold"/>
                </a:rPr>
                <a:t>Attach screen snaps of the code and output min 5</a:t>
              </a:r>
            </a:p>
            <a:p>
              <a:pPr algn="l">
                <a:lnSpc>
                  <a:spcPts val="5544"/>
                </a:lnSpc>
              </a:pPr>
            </a:p>
            <a:p>
              <a:pPr algn="l">
                <a:lnSpc>
                  <a:spcPts val="5544"/>
                </a:lnSpc>
              </a:pPr>
            </a:p>
            <a:p>
              <a:pPr algn="l">
                <a:lnSpc>
                  <a:spcPts val="5544"/>
                </a:lnSpc>
              </a:pPr>
            </a:p>
            <a:p>
              <a:pPr algn="l">
                <a:lnSpc>
                  <a:spcPts val="5544"/>
                </a:lnSpc>
              </a:pPr>
            </a:p>
          </p:txBody>
        </p:sp>
      </p:grpSp>
      <p:sp>
        <p:nvSpPr>
          <p:cNvPr name="Freeform 16" id="16"/>
          <p:cNvSpPr/>
          <p:nvPr/>
        </p:nvSpPr>
        <p:spPr>
          <a:xfrm flipH="false" flipV="false" rot="0">
            <a:off x="1303151" y="2860059"/>
            <a:ext cx="12499864" cy="3853713"/>
          </a:xfrm>
          <a:custGeom>
            <a:avLst/>
            <a:gdLst/>
            <a:ahLst/>
            <a:cxnLst/>
            <a:rect r="r" b="b" t="t" l="l"/>
            <a:pathLst>
              <a:path h="3853713" w="12499864">
                <a:moveTo>
                  <a:pt x="0" y="0"/>
                </a:moveTo>
                <a:lnTo>
                  <a:pt x="12499864" y="0"/>
                </a:lnTo>
                <a:lnTo>
                  <a:pt x="12499864" y="3853713"/>
                </a:lnTo>
                <a:lnTo>
                  <a:pt x="0" y="3853713"/>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p:nvPr/>
        </p:nvGrpSpPr>
        <p:grpSpPr>
          <a:xfrm rot="0">
            <a:off x="871788" y="803876"/>
            <a:ext cx="16544424" cy="1168214"/>
            <a:chOff x="0" y="0"/>
            <a:chExt cx="22059232" cy="1557618"/>
          </a:xfrm>
        </p:grpSpPr>
        <p:sp>
          <p:nvSpPr>
            <p:cNvPr name="Freeform 9" id="9"/>
            <p:cNvSpPr/>
            <p:nvPr/>
          </p:nvSpPr>
          <p:spPr>
            <a:xfrm flipH="false" flipV="false" rot="0">
              <a:off x="0" y="0"/>
              <a:ext cx="22059232" cy="1557618"/>
            </a:xfrm>
            <a:custGeom>
              <a:avLst/>
              <a:gdLst/>
              <a:ahLst/>
              <a:cxnLst/>
              <a:rect r="r" b="b" t="t" l="l"/>
              <a:pathLst>
                <a:path h="1557618" w="22059232">
                  <a:moveTo>
                    <a:pt x="0" y="0"/>
                  </a:moveTo>
                  <a:lnTo>
                    <a:pt x="22059232" y="0"/>
                  </a:lnTo>
                  <a:lnTo>
                    <a:pt x="22059232" y="1557618"/>
                  </a:lnTo>
                  <a:lnTo>
                    <a:pt x="0" y="1557618"/>
                  </a:lnTo>
                  <a:close/>
                </a:path>
              </a:pathLst>
            </a:custGeom>
            <a:solidFill>
              <a:srgbClr val="000000">
                <a:alpha val="0"/>
              </a:srgbClr>
            </a:solidFill>
          </p:spPr>
        </p:sp>
        <p:sp>
          <p:nvSpPr>
            <p:cNvPr name="TextBox 10" id="10"/>
            <p:cNvSpPr txBox="true"/>
            <p:nvPr/>
          </p:nvSpPr>
          <p:spPr>
            <a:xfrm>
              <a:off x="0" y="-114300"/>
              <a:ext cx="22059232" cy="16719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Result</a:t>
              </a:r>
            </a:p>
          </p:txBody>
        </p:sp>
      </p:grpSp>
      <p:grpSp>
        <p:nvGrpSpPr>
          <p:cNvPr name="Group 11" id="11"/>
          <p:cNvGrpSpPr>
            <a:grpSpLocks noChangeAspect="true"/>
          </p:cNvGrpSpPr>
          <p:nvPr/>
        </p:nvGrpSpPr>
        <p:grpSpPr>
          <a:xfrm rot="0">
            <a:off x="15727505" y="9656865"/>
            <a:ext cx="1688707" cy="547689"/>
            <a:chOff x="0" y="0"/>
            <a:chExt cx="2251610" cy="730252"/>
          </a:xfrm>
        </p:grpSpPr>
        <p:sp>
          <p:nvSpPr>
            <p:cNvPr name="Freeform 12" id="12"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sp>
        <p:nvSpPr>
          <p:cNvPr name="Freeform 13" id="13"/>
          <p:cNvSpPr/>
          <p:nvPr/>
        </p:nvSpPr>
        <p:spPr>
          <a:xfrm flipH="false" flipV="false" rot="0">
            <a:off x="871788" y="1991051"/>
            <a:ext cx="12580874" cy="6304898"/>
          </a:xfrm>
          <a:custGeom>
            <a:avLst/>
            <a:gdLst/>
            <a:ahLst/>
            <a:cxnLst/>
            <a:rect r="r" b="b" t="t" l="l"/>
            <a:pathLst>
              <a:path h="6304898" w="12580874">
                <a:moveTo>
                  <a:pt x="0" y="0"/>
                </a:moveTo>
                <a:lnTo>
                  <a:pt x="12580874" y="0"/>
                </a:lnTo>
                <a:lnTo>
                  <a:pt x="12580874" y="6304898"/>
                </a:lnTo>
                <a:lnTo>
                  <a:pt x="0" y="6304898"/>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p:nvPr/>
        </p:nvGrpSpPr>
        <p:grpSpPr>
          <a:xfrm rot="0">
            <a:off x="871788" y="803876"/>
            <a:ext cx="16544424" cy="1168214"/>
            <a:chOff x="0" y="0"/>
            <a:chExt cx="22059232" cy="1557618"/>
          </a:xfrm>
        </p:grpSpPr>
        <p:sp>
          <p:nvSpPr>
            <p:cNvPr name="Freeform 9" id="9"/>
            <p:cNvSpPr/>
            <p:nvPr/>
          </p:nvSpPr>
          <p:spPr>
            <a:xfrm flipH="false" flipV="false" rot="0">
              <a:off x="0" y="0"/>
              <a:ext cx="22059232" cy="1557618"/>
            </a:xfrm>
            <a:custGeom>
              <a:avLst/>
              <a:gdLst/>
              <a:ahLst/>
              <a:cxnLst/>
              <a:rect r="r" b="b" t="t" l="l"/>
              <a:pathLst>
                <a:path h="1557618" w="22059232">
                  <a:moveTo>
                    <a:pt x="0" y="0"/>
                  </a:moveTo>
                  <a:lnTo>
                    <a:pt x="22059232" y="0"/>
                  </a:lnTo>
                  <a:lnTo>
                    <a:pt x="22059232" y="1557618"/>
                  </a:lnTo>
                  <a:lnTo>
                    <a:pt x="0" y="1557618"/>
                  </a:lnTo>
                  <a:close/>
                </a:path>
              </a:pathLst>
            </a:custGeom>
            <a:solidFill>
              <a:srgbClr val="000000">
                <a:alpha val="0"/>
              </a:srgbClr>
            </a:solidFill>
          </p:spPr>
        </p:sp>
        <p:sp>
          <p:nvSpPr>
            <p:cNvPr name="TextBox 10" id="10"/>
            <p:cNvSpPr txBox="true"/>
            <p:nvPr/>
          </p:nvSpPr>
          <p:spPr>
            <a:xfrm>
              <a:off x="0" y="-114300"/>
              <a:ext cx="22059232" cy="16719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Result</a:t>
              </a:r>
            </a:p>
          </p:txBody>
        </p:sp>
      </p:grpSp>
      <p:grpSp>
        <p:nvGrpSpPr>
          <p:cNvPr name="Group 11" id="11"/>
          <p:cNvGrpSpPr>
            <a:grpSpLocks noChangeAspect="true"/>
          </p:cNvGrpSpPr>
          <p:nvPr/>
        </p:nvGrpSpPr>
        <p:grpSpPr>
          <a:xfrm rot="0">
            <a:off x="15727505" y="9656865"/>
            <a:ext cx="1688707" cy="547689"/>
            <a:chOff x="0" y="0"/>
            <a:chExt cx="2251610" cy="730252"/>
          </a:xfrm>
        </p:grpSpPr>
        <p:sp>
          <p:nvSpPr>
            <p:cNvPr name="Freeform 12" id="12"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sp>
        <p:nvSpPr>
          <p:cNvPr name="Freeform 13" id="13"/>
          <p:cNvSpPr/>
          <p:nvPr/>
        </p:nvSpPr>
        <p:spPr>
          <a:xfrm flipH="false" flipV="false" rot="0">
            <a:off x="1028700" y="1972089"/>
            <a:ext cx="12460259" cy="6850143"/>
          </a:xfrm>
          <a:custGeom>
            <a:avLst/>
            <a:gdLst/>
            <a:ahLst/>
            <a:cxnLst/>
            <a:rect r="r" b="b" t="t" l="l"/>
            <a:pathLst>
              <a:path h="6850143" w="12460259">
                <a:moveTo>
                  <a:pt x="0" y="0"/>
                </a:moveTo>
                <a:lnTo>
                  <a:pt x="12460259" y="0"/>
                </a:lnTo>
                <a:lnTo>
                  <a:pt x="12460259" y="6850143"/>
                </a:lnTo>
                <a:lnTo>
                  <a:pt x="0" y="6850143"/>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5727505" y="9656865"/>
            <a:ext cx="1688707" cy="547689"/>
            <a:chOff x="0" y="0"/>
            <a:chExt cx="2251610" cy="730252"/>
          </a:xfrm>
        </p:grpSpPr>
        <p:sp>
          <p:nvSpPr>
            <p:cNvPr name="Freeform 3" id="3"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4" id="4"/>
          <p:cNvGrpSpPr/>
          <p:nvPr/>
        </p:nvGrpSpPr>
        <p:grpSpPr>
          <a:xfrm rot="0">
            <a:off x="669801" y="685800"/>
            <a:ext cx="5554980" cy="142496"/>
            <a:chOff x="0" y="0"/>
            <a:chExt cx="7406640" cy="189994"/>
          </a:xfrm>
        </p:grpSpPr>
        <p:sp>
          <p:nvSpPr>
            <p:cNvPr name="Freeform 5" id="5"/>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6" id="6"/>
          <p:cNvGrpSpPr/>
          <p:nvPr/>
        </p:nvGrpSpPr>
        <p:grpSpPr>
          <a:xfrm rot="0">
            <a:off x="12063220" y="680464"/>
            <a:ext cx="5554980" cy="147831"/>
            <a:chOff x="0" y="0"/>
            <a:chExt cx="7406640" cy="197108"/>
          </a:xfrm>
        </p:grpSpPr>
        <p:sp>
          <p:nvSpPr>
            <p:cNvPr name="Freeform 7" id="7"/>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8" id="8"/>
          <p:cNvGrpSpPr/>
          <p:nvPr/>
        </p:nvGrpSpPr>
        <p:grpSpPr>
          <a:xfrm rot="0">
            <a:off x="6362745" y="685800"/>
            <a:ext cx="5554980" cy="137160"/>
            <a:chOff x="0" y="0"/>
            <a:chExt cx="7406640" cy="182880"/>
          </a:xfrm>
        </p:grpSpPr>
        <p:sp>
          <p:nvSpPr>
            <p:cNvPr name="Freeform 9" id="9"/>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10" id="10"/>
          <p:cNvGrpSpPr/>
          <p:nvPr/>
        </p:nvGrpSpPr>
        <p:grpSpPr>
          <a:xfrm rot="0">
            <a:off x="871788" y="803876"/>
            <a:ext cx="16544424" cy="1168214"/>
            <a:chOff x="0" y="0"/>
            <a:chExt cx="22059232" cy="1557618"/>
          </a:xfrm>
        </p:grpSpPr>
        <p:sp>
          <p:nvSpPr>
            <p:cNvPr name="Freeform 11" id="11"/>
            <p:cNvSpPr/>
            <p:nvPr/>
          </p:nvSpPr>
          <p:spPr>
            <a:xfrm flipH="false" flipV="false" rot="0">
              <a:off x="0" y="0"/>
              <a:ext cx="22059232" cy="1557618"/>
            </a:xfrm>
            <a:custGeom>
              <a:avLst/>
              <a:gdLst/>
              <a:ahLst/>
              <a:cxnLst/>
              <a:rect r="r" b="b" t="t" l="l"/>
              <a:pathLst>
                <a:path h="1557618" w="22059232">
                  <a:moveTo>
                    <a:pt x="0" y="0"/>
                  </a:moveTo>
                  <a:lnTo>
                    <a:pt x="22059232" y="0"/>
                  </a:lnTo>
                  <a:lnTo>
                    <a:pt x="22059232" y="1557618"/>
                  </a:lnTo>
                  <a:lnTo>
                    <a:pt x="0" y="1557618"/>
                  </a:lnTo>
                  <a:close/>
                </a:path>
              </a:pathLst>
            </a:custGeom>
            <a:solidFill>
              <a:srgbClr val="000000">
                <a:alpha val="0"/>
              </a:srgbClr>
            </a:solidFill>
          </p:spPr>
        </p:sp>
        <p:sp>
          <p:nvSpPr>
            <p:cNvPr name="TextBox 12" id="12"/>
            <p:cNvSpPr txBox="true"/>
            <p:nvPr/>
          </p:nvSpPr>
          <p:spPr>
            <a:xfrm>
              <a:off x="0" y="-114300"/>
              <a:ext cx="22059232" cy="16719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Result</a:t>
              </a:r>
            </a:p>
          </p:txBody>
        </p:sp>
      </p:grpSp>
      <p:sp>
        <p:nvSpPr>
          <p:cNvPr name="Freeform 13" id="13"/>
          <p:cNvSpPr/>
          <p:nvPr/>
        </p:nvSpPr>
        <p:spPr>
          <a:xfrm flipH="false" flipV="false" rot="0">
            <a:off x="871788" y="1833067"/>
            <a:ext cx="12267142" cy="6620867"/>
          </a:xfrm>
          <a:custGeom>
            <a:avLst/>
            <a:gdLst/>
            <a:ahLst/>
            <a:cxnLst/>
            <a:rect r="r" b="b" t="t" l="l"/>
            <a:pathLst>
              <a:path h="6620867" w="12267142">
                <a:moveTo>
                  <a:pt x="0" y="0"/>
                </a:moveTo>
                <a:lnTo>
                  <a:pt x="12267142" y="0"/>
                </a:lnTo>
                <a:lnTo>
                  <a:pt x="12267142" y="6620866"/>
                </a:lnTo>
                <a:lnTo>
                  <a:pt x="0" y="6620866"/>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p:nvPr/>
        </p:nvGrpSpPr>
        <p:grpSpPr>
          <a:xfrm rot="0">
            <a:off x="871788" y="803876"/>
            <a:ext cx="16544424" cy="1168214"/>
            <a:chOff x="0" y="0"/>
            <a:chExt cx="22059232" cy="1557618"/>
          </a:xfrm>
        </p:grpSpPr>
        <p:sp>
          <p:nvSpPr>
            <p:cNvPr name="Freeform 9" id="9"/>
            <p:cNvSpPr/>
            <p:nvPr/>
          </p:nvSpPr>
          <p:spPr>
            <a:xfrm flipH="false" flipV="false" rot="0">
              <a:off x="0" y="0"/>
              <a:ext cx="22059232" cy="1557618"/>
            </a:xfrm>
            <a:custGeom>
              <a:avLst/>
              <a:gdLst/>
              <a:ahLst/>
              <a:cxnLst/>
              <a:rect r="r" b="b" t="t" l="l"/>
              <a:pathLst>
                <a:path h="1557618" w="22059232">
                  <a:moveTo>
                    <a:pt x="0" y="0"/>
                  </a:moveTo>
                  <a:lnTo>
                    <a:pt x="22059232" y="0"/>
                  </a:lnTo>
                  <a:lnTo>
                    <a:pt x="22059232" y="1557618"/>
                  </a:lnTo>
                  <a:lnTo>
                    <a:pt x="0" y="1557618"/>
                  </a:lnTo>
                  <a:close/>
                </a:path>
              </a:pathLst>
            </a:custGeom>
            <a:solidFill>
              <a:srgbClr val="000000">
                <a:alpha val="0"/>
              </a:srgbClr>
            </a:solidFill>
          </p:spPr>
        </p:sp>
        <p:sp>
          <p:nvSpPr>
            <p:cNvPr name="TextBox 10" id="10"/>
            <p:cNvSpPr txBox="true"/>
            <p:nvPr/>
          </p:nvSpPr>
          <p:spPr>
            <a:xfrm>
              <a:off x="0" y="-114300"/>
              <a:ext cx="22059232" cy="16719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Result</a:t>
              </a:r>
            </a:p>
          </p:txBody>
        </p:sp>
      </p:grpSp>
      <p:grpSp>
        <p:nvGrpSpPr>
          <p:cNvPr name="Group 11" id="11"/>
          <p:cNvGrpSpPr>
            <a:grpSpLocks noChangeAspect="true"/>
          </p:cNvGrpSpPr>
          <p:nvPr/>
        </p:nvGrpSpPr>
        <p:grpSpPr>
          <a:xfrm rot="0">
            <a:off x="15727505" y="9656865"/>
            <a:ext cx="1688707" cy="547689"/>
            <a:chOff x="0" y="0"/>
            <a:chExt cx="2251610" cy="730252"/>
          </a:xfrm>
        </p:grpSpPr>
        <p:sp>
          <p:nvSpPr>
            <p:cNvPr name="Freeform 12" id="12"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sp>
        <p:nvSpPr>
          <p:cNvPr name="Freeform 13" id="13"/>
          <p:cNvSpPr/>
          <p:nvPr/>
        </p:nvSpPr>
        <p:spPr>
          <a:xfrm flipH="false" flipV="false" rot="0">
            <a:off x="871788" y="1972089"/>
            <a:ext cx="10310984" cy="6150881"/>
          </a:xfrm>
          <a:custGeom>
            <a:avLst/>
            <a:gdLst/>
            <a:ahLst/>
            <a:cxnLst/>
            <a:rect r="r" b="b" t="t" l="l"/>
            <a:pathLst>
              <a:path h="6150881" w="10310984">
                <a:moveTo>
                  <a:pt x="0" y="0"/>
                </a:moveTo>
                <a:lnTo>
                  <a:pt x="10310984" y="0"/>
                </a:lnTo>
                <a:lnTo>
                  <a:pt x="10310984" y="6150881"/>
                </a:lnTo>
                <a:lnTo>
                  <a:pt x="0" y="6150881"/>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71788" y="1984267"/>
            <a:ext cx="9855187" cy="5618032"/>
          </a:xfrm>
          <a:custGeom>
            <a:avLst/>
            <a:gdLst/>
            <a:ahLst/>
            <a:cxnLst/>
            <a:rect r="r" b="b" t="t" l="l"/>
            <a:pathLst>
              <a:path h="5618032" w="9855187">
                <a:moveTo>
                  <a:pt x="0" y="0"/>
                </a:moveTo>
                <a:lnTo>
                  <a:pt x="9855187" y="0"/>
                </a:lnTo>
                <a:lnTo>
                  <a:pt x="9855187" y="5618031"/>
                </a:lnTo>
                <a:lnTo>
                  <a:pt x="0" y="5618031"/>
                </a:lnTo>
                <a:lnTo>
                  <a:pt x="0" y="0"/>
                </a:lnTo>
                <a:close/>
              </a:path>
            </a:pathLst>
          </a:custGeom>
          <a:blipFill>
            <a:blip r:embed="rId2"/>
            <a:stretch>
              <a:fillRect l="0" t="-2929" r="0" b="0"/>
            </a:stretch>
          </a:blipFill>
        </p:spPr>
      </p:sp>
      <p:grpSp>
        <p:nvGrpSpPr>
          <p:cNvPr name="Group 3" id="3"/>
          <p:cNvGrpSpPr>
            <a:grpSpLocks noChangeAspect="true"/>
          </p:cNvGrpSpPr>
          <p:nvPr/>
        </p:nvGrpSpPr>
        <p:grpSpPr>
          <a:xfrm rot="0">
            <a:off x="15727505" y="9656865"/>
            <a:ext cx="1688707" cy="547689"/>
            <a:chOff x="0" y="0"/>
            <a:chExt cx="2251610" cy="730252"/>
          </a:xfrm>
        </p:grpSpPr>
        <p:sp>
          <p:nvSpPr>
            <p:cNvPr name="Freeform 4" id="4"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3"/>
              <a:stretch>
                <a:fillRect l="0" t="-141" r="-1" b="-141"/>
              </a:stretch>
            </a:blipFill>
          </p:spPr>
        </p:sp>
      </p:grpSp>
      <p:grpSp>
        <p:nvGrpSpPr>
          <p:cNvPr name="Group 5" id="5"/>
          <p:cNvGrpSpPr/>
          <p:nvPr/>
        </p:nvGrpSpPr>
        <p:grpSpPr>
          <a:xfrm rot="0">
            <a:off x="669801" y="685800"/>
            <a:ext cx="5554980" cy="142496"/>
            <a:chOff x="0" y="0"/>
            <a:chExt cx="7406640" cy="189994"/>
          </a:xfrm>
        </p:grpSpPr>
        <p:sp>
          <p:nvSpPr>
            <p:cNvPr name="Freeform 6" id="6"/>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7" id="7"/>
          <p:cNvGrpSpPr/>
          <p:nvPr/>
        </p:nvGrpSpPr>
        <p:grpSpPr>
          <a:xfrm rot="0">
            <a:off x="12063220" y="680464"/>
            <a:ext cx="5554980" cy="147831"/>
            <a:chOff x="0" y="0"/>
            <a:chExt cx="7406640" cy="197108"/>
          </a:xfrm>
        </p:grpSpPr>
        <p:sp>
          <p:nvSpPr>
            <p:cNvPr name="Freeform 8" id="8"/>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9" id="9"/>
          <p:cNvGrpSpPr/>
          <p:nvPr/>
        </p:nvGrpSpPr>
        <p:grpSpPr>
          <a:xfrm rot="0">
            <a:off x="6362745" y="685800"/>
            <a:ext cx="5554980" cy="137160"/>
            <a:chOff x="0" y="0"/>
            <a:chExt cx="7406640" cy="182880"/>
          </a:xfrm>
        </p:grpSpPr>
        <p:sp>
          <p:nvSpPr>
            <p:cNvPr name="Freeform 10" id="10"/>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11" id="11"/>
          <p:cNvGrpSpPr/>
          <p:nvPr/>
        </p:nvGrpSpPr>
        <p:grpSpPr>
          <a:xfrm rot="0">
            <a:off x="871788" y="803876"/>
            <a:ext cx="16544424" cy="1168214"/>
            <a:chOff x="0" y="0"/>
            <a:chExt cx="22059232" cy="1557618"/>
          </a:xfrm>
        </p:grpSpPr>
        <p:sp>
          <p:nvSpPr>
            <p:cNvPr name="Freeform 12" id="12"/>
            <p:cNvSpPr/>
            <p:nvPr/>
          </p:nvSpPr>
          <p:spPr>
            <a:xfrm flipH="false" flipV="false" rot="0">
              <a:off x="0" y="0"/>
              <a:ext cx="22059232" cy="1557618"/>
            </a:xfrm>
            <a:custGeom>
              <a:avLst/>
              <a:gdLst/>
              <a:ahLst/>
              <a:cxnLst/>
              <a:rect r="r" b="b" t="t" l="l"/>
              <a:pathLst>
                <a:path h="1557618" w="22059232">
                  <a:moveTo>
                    <a:pt x="0" y="0"/>
                  </a:moveTo>
                  <a:lnTo>
                    <a:pt x="22059232" y="0"/>
                  </a:lnTo>
                  <a:lnTo>
                    <a:pt x="22059232" y="1557618"/>
                  </a:lnTo>
                  <a:lnTo>
                    <a:pt x="0" y="1557618"/>
                  </a:lnTo>
                  <a:close/>
                </a:path>
              </a:pathLst>
            </a:custGeom>
            <a:solidFill>
              <a:srgbClr val="000000">
                <a:alpha val="0"/>
              </a:srgbClr>
            </a:solidFill>
          </p:spPr>
        </p:sp>
        <p:sp>
          <p:nvSpPr>
            <p:cNvPr name="TextBox 13" id="13"/>
            <p:cNvSpPr txBox="true"/>
            <p:nvPr/>
          </p:nvSpPr>
          <p:spPr>
            <a:xfrm>
              <a:off x="0" y="-114300"/>
              <a:ext cx="22059232" cy="16719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Result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p:nvPr/>
        </p:nvGrpSpPr>
        <p:grpSpPr>
          <a:xfrm rot="0">
            <a:off x="871788" y="803876"/>
            <a:ext cx="16544424" cy="1168214"/>
            <a:chOff x="0" y="0"/>
            <a:chExt cx="22059232" cy="1557618"/>
          </a:xfrm>
        </p:grpSpPr>
        <p:sp>
          <p:nvSpPr>
            <p:cNvPr name="Freeform 9" id="9"/>
            <p:cNvSpPr/>
            <p:nvPr/>
          </p:nvSpPr>
          <p:spPr>
            <a:xfrm flipH="false" flipV="false" rot="0">
              <a:off x="0" y="0"/>
              <a:ext cx="22059232" cy="1557618"/>
            </a:xfrm>
            <a:custGeom>
              <a:avLst/>
              <a:gdLst/>
              <a:ahLst/>
              <a:cxnLst/>
              <a:rect r="r" b="b" t="t" l="l"/>
              <a:pathLst>
                <a:path h="1557618" w="22059232">
                  <a:moveTo>
                    <a:pt x="0" y="0"/>
                  </a:moveTo>
                  <a:lnTo>
                    <a:pt x="22059232" y="0"/>
                  </a:lnTo>
                  <a:lnTo>
                    <a:pt x="22059232" y="1557618"/>
                  </a:lnTo>
                  <a:lnTo>
                    <a:pt x="0" y="1557618"/>
                  </a:lnTo>
                  <a:close/>
                </a:path>
              </a:pathLst>
            </a:custGeom>
            <a:solidFill>
              <a:srgbClr val="000000">
                <a:alpha val="0"/>
              </a:srgbClr>
            </a:solidFill>
          </p:spPr>
        </p:sp>
        <p:sp>
          <p:nvSpPr>
            <p:cNvPr name="TextBox 10" id="10"/>
            <p:cNvSpPr txBox="true"/>
            <p:nvPr/>
          </p:nvSpPr>
          <p:spPr>
            <a:xfrm>
              <a:off x="0" y="-114300"/>
              <a:ext cx="22059232" cy="16719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Result</a:t>
              </a:r>
            </a:p>
          </p:txBody>
        </p:sp>
      </p:grpSp>
      <p:grpSp>
        <p:nvGrpSpPr>
          <p:cNvPr name="Group 11" id="11"/>
          <p:cNvGrpSpPr>
            <a:grpSpLocks noChangeAspect="true"/>
          </p:cNvGrpSpPr>
          <p:nvPr/>
        </p:nvGrpSpPr>
        <p:grpSpPr>
          <a:xfrm rot="0">
            <a:off x="15727505" y="9656865"/>
            <a:ext cx="1688707" cy="547689"/>
            <a:chOff x="0" y="0"/>
            <a:chExt cx="2251610" cy="730252"/>
          </a:xfrm>
        </p:grpSpPr>
        <p:sp>
          <p:nvSpPr>
            <p:cNvPr name="Freeform 12" id="12"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sp>
        <p:nvSpPr>
          <p:cNvPr name="Freeform 13" id="13"/>
          <p:cNvSpPr/>
          <p:nvPr/>
        </p:nvSpPr>
        <p:spPr>
          <a:xfrm flipH="false" flipV="false" rot="0">
            <a:off x="1880509" y="1791725"/>
            <a:ext cx="11424037" cy="6608300"/>
          </a:xfrm>
          <a:custGeom>
            <a:avLst/>
            <a:gdLst/>
            <a:ahLst/>
            <a:cxnLst/>
            <a:rect r="r" b="b" t="t" l="l"/>
            <a:pathLst>
              <a:path h="6608300" w="11424037">
                <a:moveTo>
                  <a:pt x="0" y="0"/>
                </a:moveTo>
                <a:lnTo>
                  <a:pt x="11424037" y="0"/>
                </a:lnTo>
                <a:lnTo>
                  <a:pt x="11424037" y="6608300"/>
                </a:lnTo>
                <a:lnTo>
                  <a:pt x="0" y="6608300"/>
                </a:lnTo>
                <a:lnTo>
                  <a:pt x="0" y="0"/>
                </a:lnTo>
                <a:close/>
              </a:path>
            </a:pathLst>
          </a:custGeom>
          <a:blipFill>
            <a:blip r:embed="rId3"/>
            <a:stretch>
              <a:fillRect l="0" t="-6551" r="-22243" b="-99286"/>
            </a:stretch>
          </a:blipFill>
        </p:spPr>
      </p:sp>
      <p:sp>
        <p:nvSpPr>
          <p:cNvPr name="TextBox 14" id="14"/>
          <p:cNvSpPr txBox="true"/>
          <p:nvPr/>
        </p:nvSpPr>
        <p:spPr>
          <a:xfrm rot="0">
            <a:off x="861294" y="8315325"/>
            <a:ext cx="15911169" cy="1095375"/>
          </a:xfrm>
          <a:prstGeom prst="rect">
            <a:avLst/>
          </a:prstGeom>
        </p:spPr>
        <p:txBody>
          <a:bodyPr anchor="t" rtlCol="false" tIns="0" lIns="0" bIns="0" rIns="0">
            <a:spAutoFit/>
          </a:bodyPr>
          <a:lstStyle/>
          <a:p>
            <a:pPr algn="l" marL="734059" indent="-367030" lvl="1">
              <a:lnSpc>
                <a:spcPts val="4079"/>
              </a:lnSpc>
              <a:buFont typeface="Arial"/>
              <a:buChar char="•"/>
            </a:pPr>
            <a:r>
              <a:rPr lang="en-US" b="true" sz="3399">
                <a:solidFill>
                  <a:srgbClr val="000000"/>
                </a:solidFill>
                <a:latin typeface="Arial Bold"/>
                <a:ea typeface="Arial Bold"/>
                <a:cs typeface="Arial Bold"/>
                <a:sym typeface="Arial Bold"/>
              </a:rPr>
              <a:t>Attach your Github link</a:t>
            </a:r>
          </a:p>
          <a:p>
            <a:pPr algn="l">
              <a:lnSpc>
                <a:spcPts val="4079"/>
              </a:lnSpc>
            </a:pPr>
            <a:r>
              <a:rPr lang="en-US" b="true" sz="3399">
                <a:solidFill>
                  <a:srgbClr val="000000"/>
                </a:solidFill>
                <a:latin typeface="Arial Bold"/>
                <a:ea typeface="Arial Bold"/>
                <a:cs typeface="Arial Bold"/>
                <a:sym typeface="Arial Bold"/>
              </a:rPr>
              <a:t>         </a:t>
            </a:r>
            <a:r>
              <a:rPr lang="en-US" b="true" sz="3399">
                <a:solidFill>
                  <a:srgbClr val="000000"/>
                </a:solidFill>
                <a:latin typeface="Arial Bold"/>
                <a:ea typeface="Arial Bold"/>
                <a:cs typeface="Arial Bold"/>
                <a:sym typeface="Arial Bold"/>
              </a:rPr>
              <a:t>https://github.com/alitrose/EMPOLYEE-SALARY-PREDICTION.git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871788" y="814198"/>
            <a:ext cx="16544424" cy="1101014"/>
            <a:chOff x="0" y="0"/>
            <a:chExt cx="22059232" cy="1468018"/>
          </a:xfrm>
        </p:grpSpPr>
        <p:sp>
          <p:nvSpPr>
            <p:cNvPr name="Freeform 11" id="11"/>
            <p:cNvSpPr/>
            <p:nvPr/>
          </p:nvSpPr>
          <p:spPr>
            <a:xfrm flipH="false" flipV="false" rot="0">
              <a:off x="0" y="0"/>
              <a:ext cx="22059232" cy="1468018"/>
            </a:xfrm>
            <a:custGeom>
              <a:avLst/>
              <a:gdLst/>
              <a:ahLst/>
              <a:cxnLst/>
              <a:rect r="r" b="b" t="t" l="l"/>
              <a:pathLst>
                <a:path h="1468018" w="22059232">
                  <a:moveTo>
                    <a:pt x="0" y="0"/>
                  </a:moveTo>
                  <a:lnTo>
                    <a:pt x="22059232" y="0"/>
                  </a:lnTo>
                  <a:lnTo>
                    <a:pt x="22059232" y="1468018"/>
                  </a:lnTo>
                  <a:lnTo>
                    <a:pt x="0" y="1468018"/>
                  </a:lnTo>
                  <a:close/>
                </a:path>
              </a:pathLst>
            </a:custGeom>
            <a:solidFill>
              <a:srgbClr val="000000">
                <a:alpha val="0"/>
              </a:srgbClr>
            </a:solidFill>
          </p:spPr>
        </p:sp>
        <p:sp>
          <p:nvSpPr>
            <p:cNvPr name="TextBox 12" id="12"/>
            <p:cNvSpPr txBox="true"/>
            <p:nvPr/>
          </p:nvSpPr>
          <p:spPr>
            <a:xfrm>
              <a:off x="0" y="-114300"/>
              <a:ext cx="22059232" cy="15823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Conclusion</a:t>
              </a:r>
            </a:p>
          </p:txBody>
        </p:sp>
      </p:grpSp>
      <p:grpSp>
        <p:nvGrpSpPr>
          <p:cNvPr name="Group 13" id="13"/>
          <p:cNvGrpSpPr/>
          <p:nvPr/>
        </p:nvGrpSpPr>
        <p:grpSpPr>
          <a:xfrm rot="0">
            <a:off x="714877" y="1733944"/>
            <a:ext cx="16544422" cy="9046871"/>
            <a:chOff x="0" y="0"/>
            <a:chExt cx="22059230" cy="12062494"/>
          </a:xfrm>
        </p:grpSpPr>
        <p:sp>
          <p:nvSpPr>
            <p:cNvPr name="Freeform 14" id="14"/>
            <p:cNvSpPr/>
            <p:nvPr/>
          </p:nvSpPr>
          <p:spPr>
            <a:xfrm flipH="false" flipV="false" rot="0">
              <a:off x="0" y="0"/>
              <a:ext cx="22059230" cy="12062495"/>
            </a:xfrm>
            <a:custGeom>
              <a:avLst/>
              <a:gdLst/>
              <a:ahLst/>
              <a:cxnLst/>
              <a:rect r="r" b="b" t="t" l="l"/>
              <a:pathLst>
                <a:path h="12062495" w="22059230">
                  <a:moveTo>
                    <a:pt x="0" y="0"/>
                  </a:moveTo>
                  <a:lnTo>
                    <a:pt x="22059230" y="0"/>
                  </a:lnTo>
                  <a:lnTo>
                    <a:pt x="22059230" y="12062495"/>
                  </a:lnTo>
                  <a:lnTo>
                    <a:pt x="0" y="12062495"/>
                  </a:lnTo>
                  <a:close/>
                </a:path>
              </a:pathLst>
            </a:custGeom>
            <a:solidFill>
              <a:srgbClr val="000000">
                <a:alpha val="0"/>
              </a:srgbClr>
            </a:solidFill>
          </p:spPr>
        </p:sp>
        <p:sp>
          <p:nvSpPr>
            <p:cNvPr name="TextBox 15" id="15"/>
            <p:cNvSpPr txBox="true"/>
            <p:nvPr/>
          </p:nvSpPr>
          <p:spPr>
            <a:xfrm>
              <a:off x="0" y="-104775"/>
              <a:ext cx="22059230" cy="12167269"/>
            </a:xfrm>
            <a:prstGeom prst="rect">
              <a:avLst/>
            </a:prstGeom>
          </p:spPr>
          <p:txBody>
            <a:bodyPr anchor="ctr" rtlCol="false" tIns="0" lIns="0" bIns="0" rIns="0"/>
            <a:lstStyle/>
            <a:p>
              <a:pPr algn="l" marL="615319" indent="-307659" lvl="1">
                <a:lnSpc>
                  <a:spcPts val="4488"/>
                </a:lnSpc>
                <a:buFont typeface="Arial"/>
                <a:buChar char="•"/>
              </a:pPr>
              <a:r>
                <a:rPr lang="en-US" b="true" sz="3400">
                  <a:solidFill>
                    <a:srgbClr val="0F0F0F"/>
                  </a:solidFill>
                  <a:latin typeface="ITC Franklin Gothic LT Semi-Bold"/>
                  <a:ea typeface="ITC Franklin Gothic LT Semi-Bold"/>
                  <a:cs typeface="ITC Franklin Gothic LT Semi-Bold"/>
                  <a:sym typeface="ITC Franklin Gothic LT Semi-Bold"/>
                </a:rPr>
                <a:t>Summarize the findings and discuss the effectiveness of the proposed solution. Highlight any challenges encountered during the implementation and potential improvements. </a:t>
              </a:r>
            </a:p>
            <a:p>
              <a:pPr algn="l" marL="615319" indent="-307659" lvl="1">
                <a:lnSpc>
                  <a:spcPts val="4488"/>
                </a:lnSpc>
                <a:buFont typeface="Arial"/>
                <a:buChar char="•"/>
              </a:pPr>
            </a:p>
            <a:p>
              <a:pPr algn="l">
                <a:lnSpc>
                  <a:spcPts val="4488"/>
                </a:lnSpc>
              </a:pPr>
              <a:r>
                <a:rPr lang="en-US" sz="3400" b="true">
                  <a:solidFill>
                    <a:srgbClr val="0F0F0F"/>
                  </a:solidFill>
                  <a:latin typeface="ITC Franklin Gothic LT Semi-Bold"/>
                  <a:ea typeface="ITC Franklin Gothic LT Semi-Bold"/>
                  <a:cs typeface="ITC Franklin Gothic LT Semi-Bold"/>
                  <a:sym typeface="ITC Franklin Gothic LT Semi-Bold"/>
                </a:rPr>
                <a:t>Findings</a:t>
              </a:r>
            </a:p>
            <a:p>
              <a:pPr algn="l" marL="734064" indent="-367032" lvl="1">
                <a:lnSpc>
                  <a:spcPts val="4488"/>
                </a:lnSpc>
                <a:buFont typeface="Arial"/>
                <a:buChar char="•"/>
              </a:pPr>
              <a:r>
                <a:rPr lang="en-US" b="true" sz="3400">
                  <a:solidFill>
                    <a:srgbClr val="0F0F0F"/>
                  </a:solidFill>
                  <a:latin typeface="ITC Franklin Gothic LT Semi-Bold"/>
                  <a:ea typeface="ITC Franklin Gothic LT Semi-Bold"/>
                  <a:cs typeface="ITC Franklin Gothic LT Semi-Bold"/>
                  <a:sym typeface="ITC Franklin Gothic LT Semi-Bold"/>
                </a:rPr>
                <a:t>Achieved ~85% accuracy using Random Forest Classifier</a:t>
              </a:r>
            </a:p>
            <a:p>
              <a:pPr algn="l" marL="734064" indent="-367032" lvl="1">
                <a:lnSpc>
                  <a:spcPts val="4488"/>
                </a:lnSpc>
                <a:buFont typeface="Arial"/>
                <a:buChar char="•"/>
              </a:pPr>
              <a:r>
                <a:rPr lang="en-US" b="true" sz="3400">
                  <a:solidFill>
                    <a:srgbClr val="0F0F0F"/>
                  </a:solidFill>
                  <a:latin typeface="ITC Franklin Gothic LT Semi-Bold"/>
                  <a:ea typeface="ITC Franklin Gothic LT Semi-Bold"/>
                  <a:cs typeface="ITC Franklin Gothic LT Semi-Bold"/>
                  <a:sym typeface="ITC Franklin Gothic LT Semi-Bold"/>
                </a:rPr>
                <a:t>Successfully classified whether salary &gt; or ≤ $50K</a:t>
              </a:r>
            </a:p>
            <a:p>
              <a:pPr algn="l" marL="734064" indent="-367032" lvl="1">
                <a:lnSpc>
                  <a:spcPts val="4488"/>
                </a:lnSpc>
                <a:buFont typeface="Arial"/>
                <a:buChar char="•"/>
              </a:pPr>
              <a:r>
                <a:rPr lang="en-US" b="true" sz="3400">
                  <a:solidFill>
                    <a:srgbClr val="0F0F0F"/>
                  </a:solidFill>
                  <a:latin typeface="ITC Franklin Gothic LT Semi-Bold"/>
                  <a:ea typeface="ITC Franklin Gothic LT Semi-Bold"/>
                  <a:cs typeface="ITC Franklin Gothic LT Semi-Bold"/>
                  <a:sym typeface="ITC Franklin Gothic LT Semi-Bold"/>
                </a:rPr>
                <a:t>Key features: age, education-num, occupation, hours-per-week</a:t>
              </a:r>
            </a:p>
            <a:p>
              <a:pPr algn="l" marL="734064" indent="-367032" lvl="1">
                <a:lnSpc>
                  <a:spcPts val="4488"/>
                </a:lnSpc>
                <a:buFont typeface="Arial"/>
                <a:buChar char="•"/>
              </a:pPr>
              <a:r>
                <a:rPr lang="en-US" b="true" sz="3400">
                  <a:solidFill>
                    <a:srgbClr val="0F0F0F"/>
                  </a:solidFill>
                  <a:latin typeface="ITC Franklin Gothic LT Semi-Bold"/>
                  <a:ea typeface="ITC Franklin Gothic LT Semi-Bold"/>
                  <a:cs typeface="ITC Franklin Gothic LT Semi-Bold"/>
                  <a:sym typeface="ITC Franklin Gothic LT Semi-Bold"/>
                </a:rPr>
                <a:t>Model performed well on unseen test data</a:t>
              </a:r>
            </a:p>
            <a:p>
              <a:pPr algn="l">
                <a:lnSpc>
                  <a:spcPts val="4488"/>
                </a:lnSpc>
              </a:pPr>
            </a:p>
            <a:p>
              <a:pPr algn="l">
                <a:lnSpc>
                  <a:spcPts val="4488"/>
                </a:lnSpc>
              </a:pPr>
              <a:r>
                <a:rPr lang="en-US" sz="3400" b="true">
                  <a:solidFill>
                    <a:srgbClr val="0F0F0F"/>
                  </a:solidFill>
                  <a:latin typeface="ITC Franklin Gothic LT Semi-Bold"/>
                  <a:ea typeface="ITC Franklin Gothic LT Semi-Bold"/>
                  <a:cs typeface="ITC Franklin Gothic LT Semi-Bold"/>
                  <a:sym typeface="ITC Franklin Gothic LT Semi-Bold"/>
                </a:rPr>
                <a:t>Effectiveness</a:t>
              </a:r>
            </a:p>
            <a:p>
              <a:pPr algn="l" marL="734064" indent="-367032" lvl="1">
                <a:lnSpc>
                  <a:spcPts val="4488"/>
                </a:lnSpc>
                <a:buFont typeface="Arial"/>
                <a:buChar char="•"/>
              </a:pPr>
              <a:r>
                <a:rPr lang="en-US" b="true" sz="3400">
                  <a:solidFill>
                    <a:srgbClr val="0F0F0F"/>
                  </a:solidFill>
                  <a:latin typeface="ITC Franklin Gothic LT Semi-Bold"/>
                  <a:ea typeface="ITC Franklin Gothic LT Semi-Bold"/>
                  <a:cs typeface="ITC Franklin Gothic LT Semi-Bold"/>
                  <a:sym typeface="ITC Franklin Gothic LT Semi-Bold"/>
                </a:rPr>
                <a:t>High accuracy with low error rate</a:t>
              </a:r>
            </a:p>
            <a:p>
              <a:pPr algn="l" marL="734064" indent="-367032" lvl="1">
                <a:lnSpc>
                  <a:spcPts val="4488"/>
                </a:lnSpc>
                <a:buFont typeface="Arial"/>
                <a:buChar char="•"/>
              </a:pPr>
              <a:r>
                <a:rPr lang="en-US" b="true" sz="3400">
                  <a:solidFill>
                    <a:srgbClr val="0F0F0F"/>
                  </a:solidFill>
                  <a:latin typeface="ITC Franklin Gothic LT Semi-Bold"/>
                  <a:ea typeface="ITC Franklin Gothic LT Semi-Bold"/>
                  <a:cs typeface="ITC Franklin Gothic LT Semi-Bold"/>
                  <a:sym typeface="ITC Franklin Gothic LT Semi-Bold"/>
                </a:rPr>
                <a:t>Simple, interpretable, and scalable model</a:t>
              </a:r>
            </a:p>
            <a:p>
              <a:pPr algn="l" marL="734064" indent="-367032" lvl="1">
                <a:lnSpc>
                  <a:spcPts val="4488"/>
                </a:lnSpc>
                <a:buFont typeface="Arial"/>
                <a:buChar char="•"/>
              </a:pPr>
              <a:r>
                <a:rPr lang="en-US" b="true" sz="3400">
                  <a:solidFill>
                    <a:srgbClr val="0F0F0F"/>
                  </a:solidFill>
                  <a:latin typeface="ITC Franklin Gothic LT Semi-Bold"/>
                  <a:ea typeface="ITC Franklin Gothic LT Semi-Bold"/>
                  <a:cs typeface="ITC Franklin Gothic LT Semi-Bold"/>
                  <a:sym typeface="ITC Franklin Gothic LT Semi-Bold"/>
                </a:rPr>
                <a:t>Suitable for use in HR analytics or payroll systems</a:t>
              </a:r>
            </a:p>
            <a:p>
              <a:pPr algn="l">
                <a:lnSpc>
                  <a:spcPts val="4488"/>
                </a:lnSpc>
              </a:pPr>
            </a:p>
            <a:p>
              <a:pPr algn="l" marL="615319" indent="-307659" lvl="1">
                <a:lnSpc>
                  <a:spcPts val="4488"/>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58499" y="2090529"/>
            <a:ext cx="16544422" cy="5675021"/>
            <a:chOff x="0" y="0"/>
            <a:chExt cx="22059230" cy="7566694"/>
          </a:xfrm>
        </p:grpSpPr>
        <p:sp>
          <p:nvSpPr>
            <p:cNvPr name="Freeform 3" id="3"/>
            <p:cNvSpPr/>
            <p:nvPr/>
          </p:nvSpPr>
          <p:spPr>
            <a:xfrm flipH="false" flipV="false" rot="0">
              <a:off x="0" y="0"/>
              <a:ext cx="22059230" cy="7566695"/>
            </a:xfrm>
            <a:custGeom>
              <a:avLst/>
              <a:gdLst/>
              <a:ahLst/>
              <a:cxnLst/>
              <a:rect r="r" b="b" t="t" l="l"/>
              <a:pathLst>
                <a:path h="7566695" w="22059230">
                  <a:moveTo>
                    <a:pt x="0" y="0"/>
                  </a:moveTo>
                  <a:lnTo>
                    <a:pt x="22059230" y="0"/>
                  </a:lnTo>
                  <a:lnTo>
                    <a:pt x="22059230" y="7566695"/>
                  </a:lnTo>
                  <a:lnTo>
                    <a:pt x="0" y="7566695"/>
                  </a:lnTo>
                  <a:close/>
                </a:path>
              </a:pathLst>
            </a:custGeom>
            <a:solidFill>
              <a:srgbClr val="000000">
                <a:alpha val="0"/>
              </a:srgbClr>
            </a:solidFill>
          </p:spPr>
        </p:sp>
        <p:sp>
          <p:nvSpPr>
            <p:cNvPr name="TextBox 4" id="4"/>
            <p:cNvSpPr txBox="true"/>
            <p:nvPr/>
          </p:nvSpPr>
          <p:spPr>
            <a:xfrm>
              <a:off x="0" y="-104775"/>
              <a:ext cx="22059230" cy="7671469"/>
            </a:xfrm>
            <a:prstGeom prst="rect">
              <a:avLst/>
            </a:prstGeom>
          </p:spPr>
          <p:txBody>
            <a:bodyPr anchor="ctr" rtlCol="false" tIns="0" lIns="0" bIns="0" rIns="0"/>
            <a:lstStyle/>
            <a:p>
              <a:pPr algn="l">
                <a:lnSpc>
                  <a:spcPts val="4488"/>
                </a:lnSpc>
              </a:pPr>
              <a:r>
                <a:rPr lang="en-US" sz="3400" b="true">
                  <a:solidFill>
                    <a:srgbClr val="111111"/>
                  </a:solidFill>
                  <a:latin typeface="ITC Franklin Gothic LT Semi-Bold"/>
                  <a:ea typeface="ITC Franklin Gothic LT Semi-Bold"/>
                  <a:cs typeface="ITC Franklin Gothic LT Semi-Bold"/>
                  <a:sym typeface="ITC Franklin Gothic LT Semi-Bold"/>
                </a:rPr>
                <a:t>Challenges Faced</a:t>
              </a:r>
            </a:p>
            <a:p>
              <a:pPr algn="l" marL="734064" indent="-367032" lvl="1">
                <a:lnSpc>
                  <a:spcPts val="4488"/>
                </a:lnSpc>
                <a:buFont typeface="Arial"/>
                <a:buChar char="•"/>
              </a:pPr>
              <a:r>
                <a:rPr lang="en-US" b="true" sz="3400">
                  <a:solidFill>
                    <a:srgbClr val="111111"/>
                  </a:solidFill>
                  <a:latin typeface="ITC Franklin Gothic LT Semi-Bold"/>
                  <a:ea typeface="ITC Franklin Gothic LT Semi-Bold"/>
                  <a:cs typeface="ITC Franklin Gothic LT Semi-Bold"/>
                  <a:sym typeface="ITC Franklin Gothic LT Semi-Bold"/>
                </a:rPr>
                <a:t>Missing and inconsistent data (?, null values)</a:t>
              </a:r>
            </a:p>
            <a:p>
              <a:pPr algn="l" marL="734064" indent="-367032" lvl="1">
                <a:lnSpc>
                  <a:spcPts val="4488"/>
                </a:lnSpc>
                <a:buFont typeface="Arial"/>
                <a:buChar char="•"/>
              </a:pPr>
              <a:r>
                <a:rPr lang="en-US" b="true" sz="3400">
                  <a:solidFill>
                    <a:srgbClr val="111111"/>
                  </a:solidFill>
                  <a:latin typeface="ITC Franklin Gothic LT Semi-Bold"/>
                  <a:ea typeface="ITC Franklin Gothic LT Semi-Bold"/>
                  <a:cs typeface="ITC Franklin Gothic LT Semi-Bold"/>
                  <a:sym typeface="ITC Franklin Gothic LT Semi-Bold"/>
                </a:rPr>
                <a:t>Categorical data required proper encoding</a:t>
              </a:r>
            </a:p>
            <a:p>
              <a:pPr algn="l" marL="734064" indent="-367032" lvl="1">
                <a:lnSpc>
                  <a:spcPts val="4488"/>
                </a:lnSpc>
                <a:buFont typeface="Arial"/>
                <a:buChar char="•"/>
              </a:pPr>
              <a:r>
                <a:rPr lang="en-US" b="true" sz="3400">
                  <a:solidFill>
                    <a:srgbClr val="111111"/>
                  </a:solidFill>
                  <a:latin typeface="ITC Franklin Gothic LT Semi-Bold"/>
                  <a:ea typeface="ITC Franklin Gothic LT Semi-Bold"/>
                  <a:cs typeface="ITC Franklin Gothic LT Semi-Bold"/>
                  <a:sym typeface="ITC Franklin Gothic LT Semi-Bold"/>
                </a:rPr>
                <a:t>Ensuring model doesn’t underfit or overfit</a:t>
              </a:r>
            </a:p>
            <a:p>
              <a:pPr algn="l" marL="734064" indent="-367032" lvl="1">
                <a:lnSpc>
                  <a:spcPts val="4488"/>
                </a:lnSpc>
                <a:buFont typeface="Arial"/>
                <a:buChar char="•"/>
              </a:pPr>
            </a:p>
            <a:p>
              <a:pPr algn="l">
                <a:lnSpc>
                  <a:spcPts val="4488"/>
                </a:lnSpc>
              </a:pPr>
              <a:r>
                <a:rPr lang="en-US" sz="3400" b="true">
                  <a:solidFill>
                    <a:srgbClr val="111111"/>
                  </a:solidFill>
                  <a:latin typeface="ITC Franklin Gothic LT Semi-Bold"/>
                  <a:ea typeface="ITC Franklin Gothic LT Semi-Bold"/>
                  <a:cs typeface="ITC Franklin Gothic LT Semi-Bold"/>
                  <a:sym typeface="ITC Franklin Gothic LT Semi-Bold"/>
                </a:rPr>
                <a:t>Possible Improvements</a:t>
              </a:r>
            </a:p>
            <a:p>
              <a:pPr algn="l" marL="734064" indent="-367032" lvl="1">
                <a:lnSpc>
                  <a:spcPts val="4488"/>
                </a:lnSpc>
                <a:buFont typeface="Arial"/>
                <a:buChar char="•"/>
              </a:pPr>
              <a:r>
                <a:rPr lang="en-US" b="true" sz="3400">
                  <a:solidFill>
                    <a:srgbClr val="111111"/>
                  </a:solidFill>
                  <a:latin typeface="ITC Franklin Gothic LT Semi-Bold"/>
                  <a:ea typeface="ITC Franklin Gothic LT Semi-Bold"/>
                  <a:cs typeface="ITC Franklin Gothic LT Semi-Bold"/>
                  <a:sym typeface="ITC Franklin Gothic LT Semi-Bold"/>
                </a:rPr>
                <a:t>Try advanced models like XGBoost or SVM</a:t>
              </a:r>
            </a:p>
            <a:p>
              <a:pPr algn="l" marL="734064" indent="-367032" lvl="1">
                <a:lnSpc>
                  <a:spcPts val="4488"/>
                </a:lnSpc>
                <a:buFont typeface="Arial"/>
                <a:buChar char="•"/>
              </a:pPr>
              <a:r>
                <a:rPr lang="en-US" b="true" sz="3400">
                  <a:solidFill>
                    <a:srgbClr val="111111"/>
                  </a:solidFill>
                  <a:latin typeface="ITC Franklin Gothic LT Semi-Bold"/>
                  <a:ea typeface="ITC Franklin Gothic LT Semi-Bold"/>
                  <a:cs typeface="ITC Franklin Gothic LT Semi-Bold"/>
                  <a:sym typeface="ITC Franklin Gothic LT Semi-Bold"/>
                </a:rPr>
                <a:t>Use GridSearchCV for hyperparameter tuning</a:t>
              </a:r>
            </a:p>
            <a:p>
              <a:pPr algn="l" marL="734064" indent="-367032" lvl="1">
                <a:lnSpc>
                  <a:spcPts val="4488"/>
                </a:lnSpc>
                <a:buFont typeface="Arial"/>
                <a:buChar char="•"/>
              </a:pPr>
              <a:r>
                <a:rPr lang="en-US" b="true" sz="3400">
                  <a:solidFill>
                    <a:srgbClr val="111111"/>
                  </a:solidFill>
                  <a:latin typeface="ITC Franklin Gothic LT Semi-Bold"/>
                  <a:ea typeface="ITC Franklin Gothic LT Semi-Bold"/>
                  <a:cs typeface="ITC Franklin Gothic LT Semi-Bold"/>
                  <a:sym typeface="ITC Franklin Gothic LT Semi-Bold"/>
                </a:rPr>
                <a:t>Build a UI using Streamlit or Flask</a:t>
              </a:r>
            </a:p>
            <a:p>
              <a:pPr algn="l">
                <a:lnSpc>
                  <a:spcPts val="4488"/>
                </a:lnSpc>
              </a:pPr>
            </a:p>
          </p:txBody>
        </p:sp>
      </p:grpSp>
      <p:grpSp>
        <p:nvGrpSpPr>
          <p:cNvPr name="Group 5" id="5"/>
          <p:cNvGrpSpPr/>
          <p:nvPr/>
        </p:nvGrpSpPr>
        <p:grpSpPr>
          <a:xfrm rot="0">
            <a:off x="669801" y="685800"/>
            <a:ext cx="5554980" cy="142496"/>
            <a:chOff x="0" y="0"/>
            <a:chExt cx="7406640" cy="189994"/>
          </a:xfrm>
        </p:grpSpPr>
        <p:sp>
          <p:nvSpPr>
            <p:cNvPr name="Freeform 6" id="6"/>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7" id="7"/>
          <p:cNvGrpSpPr/>
          <p:nvPr/>
        </p:nvGrpSpPr>
        <p:grpSpPr>
          <a:xfrm rot="0">
            <a:off x="12063220" y="680464"/>
            <a:ext cx="5554980" cy="147831"/>
            <a:chOff x="0" y="0"/>
            <a:chExt cx="7406640" cy="197108"/>
          </a:xfrm>
        </p:grpSpPr>
        <p:sp>
          <p:nvSpPr>
            <p:cNvPr name="Freeform 8" id="8"/>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9" id="9"/>
          <p:cNvGrpSpPr/>
          <p:nvPr/>
        </p:nvGrpSpPr>
        <p:grpSpPr>
          <a:xfrm rot="0">
            <a:off x="6362745" y="685800"/>
            <a:ext cx="5554980" cy="137160"/>
            <a:chOff x="0" y="0"/>
            <a:chExt cx="7406640" cy="182880"/>
          </a:xfrm>
        </p:grpSpPr>
        <p:sp>
          <p:nvSpPr>
            <p:cNvPr name="Freeform 10" id="10"/>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11" id="11"/>
          <p:cNvGrpSpPr/>
          <p:nvPr/>
        </p:nvGrpSpPr>
        <p:grpSpPr>
          <a:xfrm rot="0">
            <a:off x="871788" y="814198"/>
            <a:ext cx="16544424" cy="1101014"/>
            <a:chOff x="0" y="0"/>
            <a:chExt cx="22059232" cy="1468018"/>
          </a:xfrm>
        </p:grpSpPr>
        <p:sp>
          <p:nvSpPr>
            <p:cNvPr name="Freeform 12" id="12"/>
            <p:cNvSpPr/>
            <p:nvPr/>
          </p:nvSpPr>
          <p:spPr>
            <a:xfrm flipH="false" flipV="false" rot="0">
              <a:off x="0" y="0"/>
              <a:ext cx="22059232" cy="1468018"/>
            </a:xfrm>
            <a:custGeom>
              <a:avLst/>
              <a:gdLst/>
              <a:ahLst/>
              <a:cxnLst/>
              <a:rect r="r" b="b" t="t" l="l"/>
              <a:pathLst>
                <a:path h="1468018" w="22059232">
                  <a:moveTo>
                    <a:pt x="0" y="0"/>
                  </a:moveTo>
                  <a:lnTo>
                    <a:pt x="22059232" y="0"/>
                  </a:lnTo>
                  <a:lnTo>
                    <a:pt x="22059232" y="1468018"/>
                  </a:lnTo>
                  <a:lnTo>
                    <a:pt x="0" y="1468018"/>
                  </a:lnTo>
                  <a:close/>
                </a:path>
              </a:pathLst>
            </a:custGeom>
            <a:solidFill>
              <a:srgbClr val="000000">
                <a:alpha val="0"/>
              </a:srgbClr>
            </a:solidFill>
          </p:spPr>
        </p:sp>
        <p:sp>
          <p:nvSpPr>
            <p:cNvPr name="TextBox 13" id="13"/>
            <p:cNvSpPr txBox="true"/>
            <p:nvPr/>
          </p:nvSpPr>
          <p:spPr>
            <a:xfrm>
              <a:off x="0" y="-114300"/>
              <a:ext cx="22059232" cy="15823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Conclusion</a:t>
              </a:r>
            </a:p>
          </p:txBody>
        </p:sp>
      </p:grpSp>
      <p:grpSp>
        <p:nvGrpSpPr>
          <p:cNvPr name="Group 14" id="14"/>
          <p:cNvGrpSpPr>
            <a:grpSpLocks noChangeAspect="true"/>
          </p:cNvGrpSpPr>
          <p:nvPr/>
        </p:nvGrpSpPr>
        <p:grpSpPr>
          <a:xfrm rot="0">
            <a:off x="15727505" y="9656865"/>
            <a:ext cx="1688707" cy="547689"/>
            <a:chOff x="0" y="0"/>
            <a:chExt cx="2251610" cy="730252"/>
          </a:xfrm>
        </p:grpSpPr>
        <p:sp>
          <p:nvSpPr>
            <p:cNvPr name="Freeform 15" id="15"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669801" y="1266988"/>
            <a:ext cx="16544422" cy="9510573"/>
            <a:chOff x="0" y="0"/>
            <a:chExt cx="22059230" cy="12680764"/>
          </a:xfrm>
        </p:grpSpPr>
        <p:sp>
          <p:nvSpPr>
            <p:cNvPr name="Freeform 11" id="11"/>
            <p:cNvSpPr/>
            <p:nvPr/>
          </p:nvSpPr>
          <p:spPr>
            <a:xfrm flipH="false" flipV="false" rot="0">
              <a:off x="0" y="0"/>
              <a:ext cx="22059230" cy="12680764"/>
            </a:xfrm>
            <a:custGeom>
              <a:avLst/>
              <a:gdLst/>
              <a:ahLst/>
              <a:cxnLst/>
              <a:rect r="r" b="b" t="t" l="l"/>
              <a:pathLst>
                <a:path h="12680764" w="22059230">
                  <a:moveTo>
                    <a:pt x="0" y="0"/>
                  </a:moveTo>
                  <a:lnTo>
                    <a:pt x="22059230" y="0"/>
                  </a:lnTo>
                  <a:lnTo>
                    <a:pt x="22059230" y="12680764"/>
                  </a:lnTo>
                  <a:lnTo>
                    <a:pt x="0" y="12680764"/>
                  </a:lnTo>
                  <a:close/>
                </a:path>
              </a:pathLst>
            </a:custGeom>
            <a:solidFill>
              <a:srgbClr val="000000">
                <a:alpha val="0"/>
              </a:srgbClr>
            </a:solidFill>
          </p:spPr>
        </p:sp>
        <p:sp>
          <p:nvSpPr>
            <p:cNvPr name="TextBox 12" id="12"/>
            <p:cNvSpPr txBox="true"/>
            <p:nvPr/>
          </p:nvSpPr>
          <p:spPr>
            <a:xfrm>
              <a:off x="0" y="-133350"/>
              <a:ext cx="22059230" cy="12814114"/>
            </a:xfrm>
            <a:prstGeom prst="rect">
              <a:avLst/>
            </a:prstGeom>
          </p:spPr>
          <p:txBody>
            <a:bodyPr anchor="ctr" rtlCol="false" tIns="0" lIns="0" bIns="0" rIns="0"/>
            <a:lstStyle/>
            <a:p>
              <a:pPr algn="l">
                <a:lnSpc>
                  <a:spcPts val="5544"/>
                </a:lnSpc>
              </a:pPr>
            </a:p>
            <a:p>
              <a:pPr algn="l" marL="760095" indent="-380048" lvl="1">
                <a:lnSpc>
                  <a:spcPts val="5544"/>
                </a:lnSpc>
                <a:buFont typeface="Arial"/>
                <a:buChar char="•"/>
              </a:pPr>
              <a:r>
                <a:rPr lang="en-US" b="true" sz="4200">
                  <a:solidFill>
                    <a:srgbClr val="404040"/>
                  </a:solidFill>
                  <a:latin typeface="ITC Franklin Gothic LT Semi-Bold"/>
                  <a:ea typeface="ITC Franklin Gothic LT Semi-Bold"/>
                  <a:cs typeface="ITC Franklin Gothic LT Semi-Bold"/>
                  <a:sym typeface="ITC Franklin Gothic LT Semi-Bold"/>
                </a:rPr>
                <a:t>Discuss potential enhancements and expansions for the system.</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There are several ways to enhance and expand the current Employee Salary Prediction system. One major improvement would be the implementation of more advanced machine learning algorithms such as XGBoost, LightGBM, or Neural Networks, which may provide better accuracy and model performance. Additionally, hyperparameter tuning techniques like GridSearchCV or RandomizedSearchCV can be used to automatically select the best parameters for the model.</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The project can also be extended by developing a user-friendly web interface using tools like Flask or Streamlit, allowing HR teams or users to input data and get salary predictions in real-time. Furthermore, integrating the model into a dashboard using visualization tools such as Plotly or Dash would enable decision-makers to better analyze trends and patterns in employee salaries.</a:t>
              </a:r>
            </a:p>
            <a:p>
              <a:pPr algn="l">
                <a:lnSpc>
                  <a:spcPts val="3960"/>
                </a:lnSpc>
              </a:pPr>
              <a:r>
                <a:rPr lang="en-US" sz="3000" b="true">
                  <a:solidFill>
                    <a:srgbClr val="000000"/>
                  </a:solidFill>
                  <a:latin typeface="ITC Franklin Gothic LT Semi-Bold"/>
                  <a:ea typeface="ITC Franklin Gothic LT Semi-Bold"/>
                  <a:cs typeface="ITC Franklin Gothic LT Semi-Bold"/>
                  <a:sym typeface="ITC Franklin Gothic LT Semi-Bold"/>
                </a:rPr>
                <a:t>Expanding the dataset to include more features like job location, years of experience, or department can also improve prediction accuracy. In an enterprise setting, connecting the model to real-time HR databases and enabling periodic model retraining can ensure the system stays updated and relevant over time.</a:t>
              </a:r>
            </a:p>
            <a:p>
              <a:pPr algn="l">
                <a:lnSpc>
                  <a:spcPts val="4487"/>
                </a:lnSpc>
              </a:pPr>
            </a:p>
            <a:p>
              <a:pPr algn="l">
                <a:lnSpc>
                  <a:spcPts val="4487"/>
                </a:lnSpc>
              </a:pPr>
              <a:r>
                <a:rPr lang="en-US" sz="3399" b="true">
                  <a:solidFill>
                    <a:srgbClr val="404040"/>
                  </a:solidFill>
                  <a:latin typeface="ITC Franklin Gothic LT Semi-Bold"/>
                  <a:ea typeface="ITC Franklin Gothic LT Semi-Bold"/>
                  <a:cs typeface="ITC Franklin Gothic LT Semi-Bold"/>
                  <a:sym typeface="ITC Franklin Gothic LT Semi-Bold"/>
                </a:rPr>
                <a:t> </a:t>
              </a:r>
            </a:p>
          </p:txBody>
        </p:sp>
      </p:grpSp>
      <p:grpSp>
        <p:nvGrpSpPr>
          <p:cNvPr name="Group 13" id="13"/>
          <p:cNvGrpSpPr/>
          <p:nvPr/>
        </p:nvGrpSpPr>
        <p:grpSpPr>
          <a:xfrm rot="0">
            <a:off x="803505" y="1266988"/>
            <a:ext cx="16544424" cy="795444"/>
            <a:chOff x="0" y="0"/>
            <a:chExt cx="22059232" cy="1060592"/>
          </a:xfrm>
        </p:grpSpPr>
        <p:sp>
          <p:nvSpPr>
            <p:cNvPr name="Freeform 14" id="14"/>
            <p:cNvSpPr/>
            <p:nvPr/>
          </p:nvSpPr>
          <p:spPr>
            <a:xfrm flipH="false" flipV="false" rot="0">
              <a:off x="0" y="0"/>
              <a:ext cx="22059232" cy="1060592"/>
            </a:xfrm>
            <a:custGeom>
              <a:avLst/>
              <a:gdLst/>
              <a:ahLst/>
              <a:cxnLst/>
              <a:rect r="r" b="b" t="t" l="l"/>
              <a:pathLst>
                <a:path h="1060592" w="22059232">
                  <a:moveTo>
                    <a:pt x="0" y="0"/>
                  </a:moveTo>
                  <a:lnTo>
                    <a:pt x="22059232" y="0"/>
                  </a:lnTo>
                  <a:lnTo>
                    <a:pt x="22059232" y="1060592"/>
                  </a:lnTo>
                  <a:lnTo>
                    <a:pt x="0" y="1060592"/>
                  </a:lnTo>
                  <a:close/>
                </a:path>
              </a:pathLst>
            </a:custGeom>
            <a:solidFill>
              <a:srgbClr val="000000">
                <a:alpha val="0"/>
              </a:srgbClr>
            </a:solidFill>
          </p:spPr>
        </p:sp>
        <p:sp>
          <p:nvSpPr>
            <p:cNvPr name="TextBox 15" id="15"/>
            <p:cNvSpPr txBox="true"/>
            <p:nvPr/>
          </p:nvSpPr>
          <p:spPr>
            <a:xfrm>
              <a:off x="0" y="9525"/>
              <a:ext cx="22059232" cy="1051067"/>
            </a:xfrm>
            <a:prstGeom prst="rect">
              <a:avLst/>
            </a:prstGeom>
          </p:spPr>
          <p:txBody>
            <a:bodyPr anchor="b" rtlCol="false" tIns="0" lIns="0" bIns="0" rIns="0"/>
            <a:lstStyle/>
            <a:p>
              <a:pPr algn="l">
                <a:lnSpc>
                  <a:spcPts val="4752"/>
                </a:lnSpc>
              </a:pPr>
              <a:r>
                <a:rPr lang="en-US" sz="4950" b="true">
                  <a:solidFill>
                    <a:srgbClr val="1CADE4"/>
                  </a:solidFill>
                  <a:latin typeface="Arial Bold"/>
                  <a:ea typeface="Arial Bold"/>
                  <a:cs typeface="Arial Bold"/>
                  <a:sym typeface="Arial Bold"/>
                </a:rPr>
                <a:t>Future scope(Optional)</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871788" y="804673"/>
            <a:ext cx="16544424" cy="1101014"/>
            <a:chOff x="0" y="0"/>
            <a:chExt cx="22059232" cy="1468018"/>
          </a:xfrm>
        </p:grpSpPr>
        <p:sp>
          <p:nvSpPr>
            <p:cNvPr name="Freeform 11" id="11"/>
            <p:cNvSpPr/>
            <p:nvPr/>
          </p:nvSpPr>
          <p:spPr>
            <a:xfrm flipH="false" flipV="false" rot="0">
              <a:off x="0" y="0"/>
              <a:ext cx="22059232" cy="1468018"/>
            </a:xfrm>
            <a:custGeom>
              <a:avLst/>
              <a:gdLst/>
              <a:ahLst/>
              <a:cxnLst/>
              <a:rect r="r" b="b" t="t" l="l"/>
              <a:pathLst>
                <a:path h="1468018" w="22059232">
                  <a:moveTo>
                    <a:pt x="0" y="0"/>
                  </a:moveTo>
                  <a:lnTo>
                    <a:pt x="22059232" y="0"/>
                  </a:lnTo>
                  <a:lnTo>
                    <a:pt x="22059232" y="1468018"/>
                  </a:lnTo>
                  <a:lnTo>
                    <a:pt x="0" y="1468018"/>
                  </a:lnTo>
                  <a:close/>
                </a:path>
              </a:pathLst>
            </a:custGeom>
            <a:solidFill>
              <a:srgbClr val="000000">
                <a:alpha val="0"/>
              </a:srgbClr>
            </a:solidFill>
          </p:spPr>
        </p:sp>
        <p:sp>
          <p:nvSpPr>
            <p:cNvPr name="TextBox 12" id="12"/>
            <p:cNvSpPr txBox="true"/>
            <p:nvPr/>
          </p:nvSpPr>
          <p:spPr>
            <a:xfrm>
              <a:off x="0" y="-114300"/>
              <a:ext cx="22059232" cy="1582318"/>
            </a:xfrm>
            <a:prstGeom prst="rect">
              <a:avLst/>
            </a:prstGeom>
          </p:spPr>
          <p:txBody>
            <a:bodyPr anchor="b" rtlCol="false" tIns="0" lIns="0" bIns="0" rIns="0"/>
            <a:lstStyle/>
            <a:p>
              <a:pPr algn="l">
                <a:lnSpc>
                  <a:spcPts val="7128"/>
                </a:lnSpc>
              </a:pPr>
              <a:r>
                <a:rPr lang="en-US" sz="5940" b="true">
                  <a:solidFill>
                    <a:srgbClr val="1CADE4"/>
                  </a:solidFill>
                  <a:latin typeface="Arial Bold"/>
                  <a:ea typeface="Arial Bold"/>
                  <a:cs typeface="Arial Bold"/>
                  <a:sym typeface="Arial Bold"/>
                </a:rPr>
                <a:t>References</a:t>
              </a:r>
            </a:p>
          </p:txBody>
        </p:sp>
      </p:grpSp>
      <p:grpSp>
        <p:nvGrpSpPr>
          <p:cNvPr name="Group 13" id="13"/>
          <p:cNvGrpSpPr/>
          <p:nvPr/>
        </p:nvGrpSpPr>
        <p:grpSpPr>
          <a:xfrm rot="0">
            <a:off x="487774" y="1905687"/>
            <a:ext cx="16544422" cy="7021525"/>
            <a:chOff x="0" y="0"/>
            <a:chExt cx="22059230" cy="9362034"/>
          </a:xfrm>
        </p:grpSpPr>
        <p:sp>
          <p:nvSpPr>
            <p:cNvPr name="Freeform 14" id="14"/>
            <p:cNvSpPr/>
            <p:nvPr/>
          </p:nvSpPr>
          <p:spPr>
            <a:xfrm flipH="false" flipV="false" rot="0">
              <a:off x="0" y="0"/>
              <a:ext cx="22059230" cy="9362034"/>
            </a:xfrm>
            <a:custGeom>
              <a:avLst/>
              <a:gdLst/>
              <a:ahLst/>
              <a:cxnLst/>
              <a:rect r="r" b="b" t="t" l="l"/>
              <a:pathLst>
                <a:path h="9362034" w="22059230">
                  <a:moveTo>
                    <a:pt x="0" y="0"/>
                  </a:moveTo>
                  <a:lnTo>
                    <a:pt x="22059230" y="0"/>
                  </a:lnTo>
                  <a:lnTo>
                    <a:pt x="22059230" y="9362034"/>
                  </a:lnTo>
                  <a:lnTo>
                    <a:pt x="0" y="9362034"/>
                  </a:lnTo>
                  <a:close/>
                </a:path>
              </a:pathLst>
            </a:custGeom>
            <a:solidFill>
              <a:srgbClr val="000000">
                <a:alpha val="0"/>
              </a:srgbClr>
            </a:solidFill>
          </p:spPr>
        </p:sp>
        <p:sp>
          <p:nvSpPr>
            <p:cNvPr name="TextBox 15" id="15"/>
            <p:cNvSpPr txBox="true"/>
            <p:nvPr/>
          </p:nvSpPr>
          <p:spPr>
            <a:xfrm>
              <a:off x="0" y="-133350"/>
              <a:ext cx="22059230" cy="9495384"/>
            </a:xfrm>
            <a:prstGeom prst="rect">
              <a:avLst/>
            </a:prstGeom>
          </p:spPr>
          <p:txBody>
            <a:bodyPr anchor="ctr" rtlCol="false" tIns="0" lIns="0" bIns="0" rIns="0"/>
            <a:lstStyle/>
            <a:p>
              <a:pPr algn="l" marL="760095" indent="-380048" lvl="1">
                <a:lnSpc>
                  <a:spcPts val="5544"/>
                </a:lnSpc>
                <a:buFont typeface="Arial"/>
                <a:buChar char="•"/>
              </a:pPr>
              <a:r>
                <a:rPr lang="en-US" b="true" sz="4200">
                  <a:solidFill>
                    <a:srgbClr val="0F0F0F"/>
                  </a:solidFill>
                  <a:latin typeface="ITC Franklin Gothic LT Semi-Bold"/>
                  <a:ea typeface="ITC Franklin Gothic LT Semi-Bold"/>
                  <a:cs typeface="ITC Franklin Gothic LT Semi-Bold"/>
                  <a:sym typeface="ITC Franklin Gothic LT Semi-Bold"/>
                </a:rPr>
                <a:t>List and cite relevant sources, research papers, and articles that were instrumental in developing the proposed solution</a:t>
              </a:r>
              <a:r>
                <a:rPr lang="en-US" sz="4200">
                  <a:solidFill>
                    <a:srgbClr val="0F0F0F"/>
                  </a:solidFill>
                  <a:latin typeface="ITC Franklin Gothic LT"/>
                  <a:ea typeface="ITC Franklin Gothic LT"/>
                  <a:cs typeface="ITC Franklin Gothic LT"/>
                  <a:sym typeface="ITC Franklin Gothic LT"/>
                </a:rPr>
                <a:t>. </a:t>
              </a:r>
            </a:p>
            <a:p>
              <a:pPr algn="l">
                <a:lnSpc>
                  <a:spcPts val="5544"/>
                </a:lnSpc>
              </a:pPr>
            </a:p>
            <a:p>
              <a:pPr algn="l" marL="906780" indent="-453390" lvl="1">
                <a:lnSpc>
                  <a:spcPts val="5544"/>
                </a:lnSpc>
                <a:buAutoNum type="arabicPeriod" startAt="1"/>
              </a:pPr>
              <a:r>
                <a:rPr lang="en-US" sz="4200">
                  <a:solidFill>
                    <a:srgbClr val="000000"/>
                  </a:solidFill>
                  <a:latin typeface="ITC Franklin Gothic LT"/>
                  <a:ea typeface="ITC Franklin Gothic LT"/>
                  <a:cs typeface="ITC Franklin Gothic LT"/>
                  <a:sym typeface="ITC Franklin Gothic LT"/>
                </a:rPr>
                <a:t>UCI Machine Learning Repository – for the Adult dataset used in salary prediction.</a:t>
              </a:r>
            </a:p>
            <a:p>
              <a:pPr algn="l" marL="906780" indent="-453390" lvl="1">
                <a:lnSpc>
                  <a:spcPts val="5544"/>
                </a:lnSpc>
                <a:buAutoNum type="arabicPeriod" startAt="1"/>
              </a:pPr>
              <a:r>
                <a:rPr lang="en-US" sz="4200">
                  <a:solidFill>
                    <a:srgbClr val="000000"/>
                  </a:solidFill>
                  <a:latin typeface="ITC Franklin Gothic LT"/>
                  <a:ea typeface="ITC Franklin Gothic LT"/>
                  <a:cs typeface="ITC Franklin Gothic LT"/>
                  <a:sym typeface="ITC Franklin Gothic LT"/>
                </a:rPr>
                <a:t>scikit-learn documentation – for machine learning algorithms and model evaluation techniques.</a:t>
              </a:r>
            </a:p>
            <a:p>
              <a:pPr algn="l" marL="906780" indent="-453390" lvl="1">
                <a:lnSpc>
                  <a:spcPts val="5544"/>
                </a:lnSpc>
                <a:buAutoNum type="arabicPeriod" startAt="1"/>
              </a:pPr>
              <a:r>
                <a:rPr lang="en-US" sz="4200">
                  <a:solidFill>
                    <a:srgbClr val="000000"/>
                  </a:solidFill>
                  <a:latin typeface="ITC Franklin Gothic LT"/>
                  <a:ea typeface="ITC Franklin Gothic LT"/>
                  <a:cs typeface="ITC Franklin Gothic LT"/>
                  <a:sym typeface="ITC Franklin Gothic LT"/>
                </a:rPr>
                <a:t>pandas and matplotlib libraries – used for data preprocessing and visualization</a:t>
              </a:r>
              <a:r>
                <a:rPr lang="en-US" sz="4200">
                  <a:solidFill>
                    <a:srgbClr val="1CADE4"/>
                  </a:solidFill>
                  <a:latin typeface="ITC Franklin Gothic LT"/>
                  <a:ea typeface="ITC Franklin Gothic LT"/>
                  <a:cs typeface="ITC Franklin Gothic LT"/>
                  <a:sym typeface="ITC Franklin Gothic LT"/>
                </a:rPr>
                <a:t>.</a:t>
              </a:r>
            </a:p>
            <a:p>
              <a:pPr algn="l">
                <a:lnSpc>
                  <a:spcPts val="5544"/>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9801" y="685800"/>
            <a:ext cx="5554980" cy="142496"/>
            <a:chOff x="0" y="0"/>
            <a:chExt cx="7406640" cy="189994"/>
          </a:xfrm>
        </p:grpSpPr>
        <p:sp>
          <p:nvSpPr>
            <p:cNvPr name="Freeform 3" id="3"/>
            <p:cNvSpPr/>
            <p:nvPr/>
          </p:nvSpPr>
          <p:spPr>
            <a:xfrm flipH="false" flipV="false" rot="0">
              <a:off x="0" y="0"/>
              <a:ext cx="7406640" cy="189992"/>
            </a:xfrm>
            <a:custGeom>
              <a:avLst/>
              <a:gdLst/>
              <a:ahLst/>
              <a:cxnLst/>
              <a:rect r="r" b="b" t="t" l="l"/>
              <a:pathLst>
                <a:path h="189992" w="7406640">
                  <a:moveTo>
                    <a:pt x="0" y="0"/>
                  </a:moveTo>
                  <a:lnTo>
                    <a:pt x="7406640" y="0"/>
                  </a:lnTo>
                  <a:lnTo>
                    <a:pt x="7406640" y="189992"/>
                  </a:lnTo>
                  <a:lnTo>
                    <a:pt x="0" y="189992"/>
                  </a:lnTo>
                  <a:close/>
                </a:path>
              </a:pathLst>
            </a:custGeom>
            <a:solidFill>
              <a:srgbClr val="465359"/>
            </a:solidFill>
          </p:spPr>
        </p:sp>
      </p:grpSp>
      <p:grpSp>
        <p:nvGrpSpPr>
          <p:cNvPr name="Group 4" id="4"/>
          <p:cNvGrpSpPr/>
          <p:nvPr/>
        </p:nvGrpSpPr>
        <p:grpSpPr>
          <a:xfrm rot="0">
            <a:off x="12063220" y="680464"/>
            <a:ext cx="5554980" cy="147831"/>
            <a:chOff x="0" y="0"/>
            <a:chExt cx="7406640" cy="197108"/>
          </a:xfrm>
        </p:grpSpPr>
        <p:sp>
          <p:nvSpPr>
            <p:cNvPr name="Freeform 5" id="5"/>
            <p:cNvSpPr/>
            <p:nvPr/>
          </p:nvSpPr>
          <p:spPr>
            <a:xfrm flipH="false" flipV="false" rot="0">
              <a:off x="0" y="0"/>
              <a:ext cx="7406640" cy="197104"/>
            </a:xfrm>
            <a:custGeom>
              <a:avLst/>
              <a:gdLst/>
              <a:ahLst/>
              <a:cxnLst/>
              <a:rect r="r" b="b" t="t" l="l"/>
              <a:pathLst>
                <a:path h="197104" w="7406640">
                  <a:moveTo>
                    <a:pt x="0" y="0"/>
                  </a:moveTo>
                  <a:lnTo>
                    <a:pt x="7406640" y="0"/>
                  </a:lnTo>
                  <a:lnTo>
                    <a:pt x="7406640" y="197104"/>
                  </a:lnTo>
                  <a:lnTo>
                    <a:pt x="0" y="197104"/>
                  </a:lnTo>
                  <a:close/>
                </a:path>
              </a:pathLst>
            </a:custGeom>
            <a:solidFill>
              <a:srgbClr val="969FA7"/>
            </a:solidFill>
          </p:spPr>
        </p:sp>
      </p:grpSp>
      <p:grpSp>
        <p:nvGrpSpPr>
          <p:cNvPr name="Group 6" id="6"/>
          <p:cNvGrpSpPr/>
          <p:nvPr/>
        </p:nvGrpSpPr>
        <p:grpSpPr>
          <a:xfrm rot="0">
            <a:off x="6362745" y="685800"/>
            <a:ext cx="5554980" cy="137160"/>
            <a:chOff x="0" y="0"/>
            <a:chExt cx="7406640" cy="182880"/>
          </a:xfrm>
        </p:grpSpPr>
        <p:sp>
          <p:nvSpPr>
            <p:cNvPr name="Freeform 7" id="7"/>
            <p:cNvSpPr/>
            <p:nvPr/>
          </p:nvSpPr>
          <p:spPr>
            <a:xfrm flipH="false" flipV="false" rot="0">
              <a:off x="0" y="0"/>
              <a:ext cx="7406640" cy="182880"/>
            </a:xfrm>
            <a:custGeom>
              <a:avLst/>
              <a:gdLst/>
              <a:ahLst/>
              <a:cxnLst/>
              <a:rect r="r" b="b" t="t" l="l"/>
              <a:pathLst>
                <a:path h="182880" w="7406640">
                  <a:moveTo>
                    <a:pt x="0" y="0"/>
                  </a:moveTo>
                  <a:lnTo>
                    <a:pt x="7406640" y="0"/>
                  </a:lnTo>
                  <a:lnTo>
                    <a:pt x="7406640" y="182880"/>
                  </a:lnTo>
                  <a:lnTo>
                    <a:pt x="0" y="182880"/>
                  </a:lnTo>
                  <a:close/>
                </a:path>
              </a:pathLst>
            </a:custGeom>
            <a:solidFill>
              <a:srgbClr val="1CADE4"/>
            </a:solidFill>
          </p:spPr>
        </p:sp>
      </p:grpSp>
      <p:grpSp>
        <p:nvGrpSpPr>
          <p:cNvPr name="Group 8" id="8"/>
          <p:cNvGrpSpPr>
            <a:grpSpLocks noChangeAspect="true"/>
          </p:cNvGrpSpPr>
          <p:nvPr/>
        </p:nvGrpSpPr>
        <p:grpSpPr>
          <a:xfrm rot="0">
            <a:off x="15727505" y="9656865"/>
            <a:ext cx="1688707" cy="547689"/>
            <a:chOff x="0" y="0"/>
            <a:chExt cx="2251610" cy="730252"/>
          </a:xfrm>
        </p:grpSpPr>
        <p:sp>
          <p:nvSpPr>
            <p:cNvPr name="Freeform 9" id="9" descr="Logo  Description automatically generated"/>
            <p:cNvSpPr/>
            <p:nvPr/>
          </p:nvSpPr>
          <p:spPr>
            <a:xfrm flipH="false" flipV="false" rot="0">
              <a:off x="0" y="0"/>
              <a:ext cx="2251583" cy="730250"/>
            </a:xfrm>
            <a:custGeom>
              <a:avLst/>
              <a:gdLst/>
              <a:ahLst/>
              <a:cxnLst/>
              <a:rect r="r" b="b" t="t" l="l"/>
              <a:pathLst>
                <a:path h="730250" w="2251583">
                  <a:moveTo>
                    <a:pt x="0" y="0"/>
                  </a:moveTo>
                  <a:lnTo>
                    <a:pt x="2251583" y="0"/>
                  </a:lnTo>
                  <a:lnTo>
                    <a:pt x="2251583" y="730250"/>
                  </a:lnTo>
                  <a:lnTo>
                    <a:pt x="0" y="730250"/>
                  </a:lnTo>
                  <a:lnTo>
                    <a:pt x="0" y="0"/>
                  </a:lnTo>
                  <a:close/>
                </a:path>
              </a:pathLst>
            </a:custGeom>
            <a:blipFill>
              <a:blip r:embed="rId2"/>
              <a:stretch>
                <a:fillRect l="0" t="-141" r="-1" b="-141"/>
              </a:stretch>
            </a:blipFill>
          </p:spPr>
        </p:sp>
      </p:grpSp>
      <p:grpSp>
        <p:nvGrpSpPr>
          <p:cNvPr name="Group 10" id="10"/>
          <p:cNvGrpSpPr/>
          <p:nvPr/>
        </p:nvGrpSpPr>
        <p:grpSpPr>
          <a:xfrm rot="0">
            <a:off x="2194562" y="4149327"/>
            <a:ext cx="13948116" cy="1988344"/>
            <a:chOff x="0" y="0"/>
            <a:chExt cx="18597488" cy="2651126"/>
          </a:xfrm>
        </p:grpSpPr>
        <p:sp>
          <p:nvSpPr>
            <p:cNvPr name="Freeform 11" id="11"/>
            <p:cNvSpPr/>
            <p:nvPr/>
          </p:nvSpPr>
          <p:spPr>
            <a:xfrm flipH="false" flipV="false" rot="0">
              <a:off x="0" y="0"/>
              <a:ext cx="18597488" cy="2651126"/>
            </a:xfrm>
            <a:custGeom>
              <a:avLst/>
              <a:gdLst/>
              <a:ahLst/>
              <a:cxnLst/>
              <a:rect r="r" b="b" t="t" l="l"/>
              <a:pathLst>
                <a:path h="2651126" w="18597488">
                  <a:moveTo>
                    <a:pt x="0" y="0"/>
                  </a:moveTo>
                  <a:lnTo>
                    <a:pt x="18597488" y="0"/>
                  </a:lnTo>
                  <a:lnTo>
                    <a:pt x="18597488" y="2651126"/>
                  </a:lnTo>
                  <a:lnTo>
                    <a:pt x="0" y="2651126"/>
                  </a:lnTo>
                  <a:close/>
                </a:path>
              </a:pathLst>
            </a:custGeom>
            <a:solidFill>
              <a:srgbClr val="000000">
                <a:alpha val="0"/>
              </a:srgbClr>
            </a:solidFill>
          </p:spPr>
        </p:sp>
        <p:sp>
          <p:nvSpPr>
            <p:cNvPr name="TextBox 12" id="12"/>
            <p:cNvSpPr txBox="true"/>
            <p:nvPr/>
          </p:nvSpPr>
          <p:spPr>
            <a:xfrm>
              <a:off x="0" y="-85725"/>
              <a:ext cx="18597488" cy="2736851"/>
            </a:xfrm>
            <a:prstGeom prst="rect">
              <a:avLst/>
            </a:prstGeom>
          </p:spPr>
          <p:txBody>
            <a:bodyPr anchor="b" rtlCol="false" tIns="0" lIns="0" bIns="0" rIns="0"/>
            <a:lstStyle/>
            <a:p>
              <a:pPr algn="ctr">
                <a:lnSpc>
                  <a:spcPts val="5040"/>
                </a:lnSpc>
              </a:pPr>
              <a:r>
                <a:rPr lang="en-US" sz="4200" b="true">
                  <a:solidFill>
                    <a:srgbClr val="002060"/>
                  </a:solidFill>
                  <a:latin typeface="Arial Bold"/>
                  <a:ea typeface="Arial Bold"/>
                  <a:cs typeface="Arial Bold"/>
                  <a:sym typeface="Arial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DAGt5LFN6W4</dc:identifier>
  <dcterms:modified xsi:type="dcterms:W3CDTF">2011-08-01T06:04:30Z</dcterms:modified>
  <cp:revision>1</cp:revision>
  <dc:title>Project template.pptx</dc:title>
</cp:coreProperties>
</file>